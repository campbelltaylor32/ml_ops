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12191675"/>
  <p:embeddedFontLs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zG5yh/1cBfAtgWiWvZxCjxqnX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150245-316A-4EA8-901A-9E43B847987A}">
  <a:tblStyle styleId="{A1150245-316A-4EA8-901A-9E43B84798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541c0b1c5_4_0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e541c0b1c5_4_0:notes"/>
          <p:cNvSpPr/>
          <p:nvPr>
            <p:ph idx="2" type="sldImg"/>
          </p:nvPr>
        </p:nvSpPr>
        <p:spPr>
          <a:xfrm>
            <a:off x="1143225" y="914376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541c0b1c5_4_19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e541c0b1c5_4_19:notes"/>
          <p:cNvSpPr/>
          <p:nvPr>
            <p:ph idx="2" type="sldImg"/>
          </p:nvPr>
        </p:nvSpPr>
        <p:spPr>
          <a:xfrm>
            <a:off x="1143225" y="914376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541c0b1c5_8_11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e541c0b1c5_8_11:notes"/>
          <p:cNvSpPr/>
          <p:nvPr>
            <p:ph idx="2" type="sldImg"/>
          </p:nvPr>
        </p:nvSpPr>
        <p:spPr>
          <a:xfrm>
            <a:off x="1143225" y="914376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541c0b1c5_4_36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541c0b1c5_4_36:notes"/>
          <p:cNvSpPr/>
          <p:nvPr>
            <p:ph idx="2" type="sldImg"/>
          </p:nvPr>
        </p:nvSpPr>
        <p:spPr>
          <a:xfrm>
            <a:off x="1143225" y="914376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541c0b1c5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e541c0b1c5_6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e541c0b1c5_6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Georgia"/>
              <a:buNone/>
            </a:pPr>
            <a:r>
              <a:rPr b="1" lang="en-US" sz="17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541c0b1c5_4_1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e541c0b1c5_4_1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e541c0b1c5_4_1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hyperlink" Target="http://github.com/campbelltaylor32/ML_OP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hyperlink" Target="http://drive.google.com/file/d/1EAwfPJJ8ZjBwWI0qcGsBIqfsc1jrS6l0/view" TargetMode="External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53.png"/><Relationship Id="rId7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39.png"/><Relationship Id="rId6" Type="http://schemas.openxmlformats.org/officeDocument/2006/relationships/image" Target="../media/image61.png"/><Relationship Id="rId7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62.png"/><Relationship Id="rId13" Type="http://schemas.openxmlformats.org/officeDocument/2006/relationships/image" Target="../media/image65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57.png"/><Relationship Id="rId14" Type="http://schemas.openxmlformats.org/officeDocument/2006/relationships/image" Target="../media/image66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36.png"/><Relationship Id="rId8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67.png"/><Relationship Id="rId5" Type="http://schemas.openxmlformats.org/officeDocument/2006/relationships/image" Target="../media/image51.png"/><Relationship Id="rId6" Type="http://schemas.openxmlformats.org/officeDocument/2006/relationships/image" Target="../media/image57.png"/><Relationship Id="rId7" Type="http://schemas.openxmlformats.org/officeDocument/2006/relationships/image" Target="../media/image4.png"/><Relationship Id="rId8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hyperlink" Target="http://github.com/campbelltaylor32/ML_OPS" TargetMode="External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E0C16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829800" y="2331720"/>
            <a:ext cx="1371600" cy="1371600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4120" y="260604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566928" y="14173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14D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rgbClr val="C2A14D"/>
                </a:solidFill>
                <a:latin typeface="Lato"/>
                <a:ea typeface="Lato"/>
                <a:cs typeface="Lato"/>
                <a:sym typeface="Lato"/>
              </a:rPr>
              <a:t>ADSP 32021  ·  MLOPS FINAL PROJECT</a:t>
            </a:r>
            <a:endParaRPr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66928" y="1888233"/>
            <a:ext cx="7955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Student Performance</a:t>
            </a:r>
            <a:endParaRPr i="0" sz="4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Risk Monitoring System</a:t>
            </a:r>
            <a:endParaRPr i="0" sz="4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66928" y="36118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DDF"/>
              </a:buClr>
              <a:buSzPts val="1700"/>
              <a:buFont typeface="Calibri"/>
              <a:buNone/>
            </a:pPr>
            <a:r>
              <a:rPr i="1" lang="en-US" sz="1900" u="none" cap="none" strike="noStrike">
                <a:solidFill>
                  <a:srgbClr val="E9DDDF"/>
                </a:solidFill>
                <a:latin typeface="Lato"/>
                <a:ea typeface="Lato"/>
                <a:cs typeface="Lato"/>
                <a:sym typeface="Lato"/>
              </a:rPr>
              <a:t>Predicting Academic Performance and Monitoring Model Drift with MLOps</a:t>
            </a:r>
            <a:endParaRPr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66928" y="4526280"/>
            <a:ext cx="1371600" cy="32004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66928" y="47091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University of Chicago  ·  May 28, 2026</a:t>
            </a:r>
            <a:endParaRPr i="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C9CC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D9C9CC"/>
                </a:solidFill>
                <a:latin typeface="Lato"/>
                <a:ea typeface="Lato"/>
                <a:cs typeface="Lato"/>
                <a:sym typeface="Lato"/>
              </a:rPr>
              <a:t>Andrew Castillo · Campbell Taylor · Cicily Mathew · Sagana Ondande</a:t>
            </a:r>
            <a:endParaRPr i="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30" name="Google Shape;3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571500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978408" y="5705856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9AE"/>
              </a:buClr>
              <a:buSzPts val="1250"/>
              <a:buFont typeface="Calibri"/>
              <a:buNone/>
            </a:pPr>
            <a:r>
              <a:rPr i="0" lang="en-US" sz="135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github.com/campbelltaylor32/ML_OPS</a:t>
            </a:r>
            <a:endParaRPr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278063" y="50292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963863" y="50292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6A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9649663" y="50292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6A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0335463" y="50292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6A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11021263" y="50292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6A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8278063" y="25603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9A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7D9AE"/>
                </a:solidFill>
                <a:latin typeface="Lato"/>
                <a:ea typeface="Lato"/>
                <a:cs typeface="Lato"/>
                <a:sym typeface="Lato"/>
              </a:rPr>
              <a:t>SECTION 1 OF 5</a:t>
            </a:r>
            <a:endParaRPr i="0" sz="8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" name="Google Shape;38;p1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541c0b1c5_4_0"/>
          <p:cNvSpPr txBox="1"/>
          <p:nvPr/>
        </p:nvSpPr>
        <p:spPr>
          <a:xfrm>
            <a:off x="566928" y="384048"/>
            <a:ext cx="7498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OUR JOURNEY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" name="Google Shape;44;g3e541c0b1c5_4_0"/>
          <p:cNvSpPr txBox="1"/>
          <p:nvPr/>
        </p:nvSpPr>
        <p:spPr>
          <a:xfrm>
            <a:off x="566928" y="676656"/>
            <a:ext cx="969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From Legal NLP to Student Risk Monitoring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" name="Google Shape;45;g3e541c0b1c5_4_0"/>
          <p:cNvSpPr txBox="1"/>
          <p:nvPr/>
        </p:nvSpPr>
        <p:spPr>
          <a:xfrm>
            <a:off x="566928" y="1421132"/>
            <a:ext cx="1060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We started with an ambitious cloud-native legal-document enrichment platform — here's what we built, what we learned, and why we pivoted.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" name="Google Shape;46;g3e541c0b1c5_4_0"/>
          <p:cNvSpPr txBox="1"/>
          <p:nvPr/>
        </p:nvSpPr>
        <p:spPr>
          <a:xfrm>
            <a:off x="566928" y="6473952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" name="Google Shape;47;g3e541c0b1c5_4_0"/>
          <p:cNvSpPr/>
          <p:nvPr/>
        </p:nvSpPr>
        <p:spPr>
          <a:xfrm>
            <a:off x="5750000" y="2150000"/>
            <a:ext cx="73200" cy="3800100"/>
          </a:xfrm>
          <a:prstGeom prst="rect">
            <a:avLst/>
          </a:prstGeom>
          <a:solidFill>
            <a:srgbClr val="E0D0D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" name="Google Shape;48;g3e541c0b1c5_4_0"/>
          <p:cNvSpPr txBox="1"/>
          <p:nvPr/>
        </p:nvSpPr>
        <p:spPr>
          <a:xfrm>
            <a:off x="566928" y="2150000"/>
            <a:ext cx="48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Original project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" name="Google Shape;49;g3e541c0b1c5_4_0"/>
          <p:cNvSpPr txBox="1"/>
          <p:nvPr/>
        </p:nvSpPr>
        <p:spPr>
          <a:xfrm>
            <a:off x="566928" y="2550000"/>
            <a:ext cx="48000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Legal Document Enrichment Platform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Predict precedent &amp; citation impact of U.S. court opinions </a:t>
            </a:r>
            <a:r>
              <a:rPr lang="en-US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— classify as low, medium, or high precedential influence using NLP.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What we built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•  Full GCP: Composer, Cloud Run, Cloud SQL, MLflow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•  AutoGluon MultiModal + ELECTRA-small backbone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•  Terraform IaC (10 modules), WIF auth, least-privilege SAs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•  Evidently drift monitoring with JSD alerting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•  CI/CD via GitHub Actions + Cloud Build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•  Front end dashboard that allowed inference on recent court opinions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" name="Google Shape;50;g3e541c0b1c5_4_0"/>
          <p:cNvSpPr txBox="1"/>
          <p:nvPr/>
        </p:nvSpPr>
        <p:spPr>
          <a:xfrm>
            <a:off x="6050000" y="2150000"/>
            <a:ext cx="42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Why we pivoted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" name="Google Shape;51;g3e541c0b1c5_4_0"/>
          <p:cNvSpPr txBox="1"/>
          <p:nvPr/>
        </p:nvSpPr>
        <p:spPr>
          <a:xfrm>
            <a:off x="6050000" y="2600000"/>
            <a:ext cx="42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TIMELINE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52;g3e541c0b1c5_4_0"/>
          <p:cNvSpPr txBox="1"/>
          <p:nvPr/>
        </p:nvSpPr>
        <p:spPr>
          <a:xfrm>
            <a:off x="6050000" y="2820000"/>
            <a:ext cx="519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GCP provisioning and API rate limits consumed weeks — leaving too little runway for model iteration and demo prep.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" name="Google Shape;53;g3e541c0b1c5_4_0"/>
          <p:cNvSpPr txBox="1"/>
          <p:nvPr/>
        </p:nvSpPr>
        <p:spPr>
          <a:xfrm>
            <a:off x="6050000" y="3500000"/>
            <a:ext cx="42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COST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" name="Google Shape;54;g3e541c0b1c5_4_0"/>
          <p:cNvSpPr txBox="1"/>
          <p:nvPr/>
        </p:nvSpPr>
        <p:spPr>
          <a:xfrm>
            <a:off x="6050000" y="3720000"/>
            <a:ext cx="519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Vertex AI GPU quota zero by default; Cloud Composer alone ~$300/mo for a student project.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" name="Google Shape;55;g3e541c0b1c5_4_0"/>
          <p:cNvSpPr txBox="1"/>
          <p:nvPr/>
        </p:nvSpPr>
        <p:spPr>
          <a:xfrm>
            <a:off x="6050000" y="4400000"/>
            <a:ext cx="42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SCOPE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g3e541c0b1c5_4_0"/>
          <p:cNvSpPr txBox="1"/>
          <p:nvPr/>
        </p:nvSpPr>
        <p:spPr>
          <a:xfrm>
            <a:off x="6050000" y="4620000"/>
            <a:ext cx="519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70-file codebase across Terraform, Airflow, Docker, FastAPI, React. 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7" name="Google Shape;57;g3e541c0b1c5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473" y="210900"/>
            <a:ext cx="1130476" cy="113047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e541c0b1c5_4_0"/>
          <p:cNvSpPr txBox="1"/>
          <p:nvPr>
            <p:ph idx="12" type="sldNum"/>
          </p:nvPr>
        </p:nvSpPr>
        <p:spPr>
          <a:xfrm>
            <a:off x="9871600" y="63395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541c0b1c5_4_19"/>
          <p:cNvSpPr txBox="1"/>
          <p:nvPr/>
        </p:nvSpPr>
        <p:spPr>
          <a:xfrm>
            <a:off x="566928" y="384048"/>
            <a:ext cx="7498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GCP ARCHITECTURE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g3e541c0b1c5_4_19"/>
          <p:cNvSpPr txBox="1"/>
          <p:nvPr/>
        </p:nvSpPr>
        <p:spPr>
          <a:xfrm>
            <a:off x="566928" y="676656"/>
            <a:ext cx="969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Cloud-native MLOps platform on GCP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" name="Google Shape;65;g3e541c0b1c5_4_19"/>
          <p:cNvSpPr txBox="1"/>
          <p:nvPr/>
        </p:nvSpPr>
        <p:spPr>
          <a:xfrm>
            <a:off x="566928" y="1230757"/>
            <a:ext cx="1060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Single VPC  ·  Terraform-provisioned  ·  Scaled resources  ·  10 IaC modules  ·  70 files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g3e541c0b1c5_4_19"/>
          <p:cNvSpPr txBox="1"/>
          <p:nvPr/>
        </p:nvSpPr>
        <p:spPr>
          <a:xfrm>
            <a:off x="566928" y="6473952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" name="Google Shape;67;g3e541c0b1c5_4_19"/>
          <p:cNvSpPr txBox="1"/>
          <p:nvPr/>
        </p:nvSpPr>
        <p:spPr>
          <a:xfrm>
            <a:off x="566928" y="5925312"/>
            <a:ext cx="777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" name="Google Shape;68;g3e541c0b1c5_4_19"/>
          <p:cNvSpPr/>
          <p:nvPr/>
        </p:nvSpPr>
        <p:spPr>
          <a:xfrm>
            <a:off x="1344177" y="5943600"/>
            <a:ext cx="1355100" cy="310800"/>
          </a:xfrm>
          <a:prstGeom prst="roundRect">
            <a:avLst>
              <a:gd fmla="val 16667" name="adj"/>
            </a:avLst>
          </a:prstGeom>
          <a:solidFill>
            <a:srgbClr val="F0E8EA"/>
          </a:solidFill>
          <a:ln cap="flat" cmpd="sng" w="9525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Terraform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g3e541c0b1c5_4_19"/>
          <p:cNvSpPr/>
          <p:nvPr/>
        </p:nvSpPr>
        <p:spPr>
          <a:xfrm>
            <a:off x="2878837" y="5943600"/>
            <a:ext cx="1355100" cy="310800"/>
          </a:xfrm>
          <a:prstGeom prst="roundRect">
            <a:avLst>
              <a:gd fmla="val 16667" name="adj"/>
            </a:avLst>
          </a:prstGeom>
          <a:solidFill>
            <a:srgbClr val="F0E8EA"/>
          </a:solidFill>
          <a:ln cap="flat" cmpd="sng" w="9525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Cloud Run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" name="Google Shape;70;g3e541c0b1c5_4_19"/>
          <p:cNvSpPr/>
          <p:nvPr/>
        </p:nvSpPr>
        <p:spPr>
          <a:xfrm>
            <a:off x="4413497" y="5943600"/>
            <a:ext cx="1231500" cy="310800"/>
          </a:xfrm>
          <a:prstGeom prst="roundRect">
            <a:avLst>
              <a:gd fmla="val 16667" name="adj"/>
            </a:avLst>
          </a:prstGeom>
          <a:solidFill>
            <a:srgbClr val="F0E8EA"/>
          </a:solidFill>
          <a:ln cap="flat" cmpd="sng" w="9525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Composer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" name="Google Shape;71;g3e541c0b1c5_4_19"/>
          <p:cNvSpPr/>
          <p:nvPr/>
        </p:nvSpPr>
        <p:spPr>
          <a:xfrm>
            <a:off x="5824991" y="5943600"/>
            <a:ext cx="1355100" cy="310800"/>
          </a:xfrm>
          <a:prstGeom prst="roundRect">
            <a:avLst>
              <a:gd fmla="val 16667" name="adj"/>
            </a:avLst>
          </a:prstGeom>
          <a:solidFill>
            <a:srgbClr val="F0E8EA"/>
          </a:solidFill>
          <a:ln cap="flat" cmpd="sng" w="9525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Cloud SQL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" name="Google Shape;72;g3e541c0b1c5_4_19"/>
          <p:cNvSpPr/>
          <p:nvPr/>
        </p:nvSpPr>
        <p:spPr>
          <a:xfrm>
            <a:off x="7359651" y="5943600"/>
            <a:ext cx="861900" cy="310800"/>
          </a:xfrm>
          <a:prstGeom prst="roundRect">
            <a:avLst>
              <a:gd fmla="val 16667" name="adj"/>
            </a:avLst>
          </a:prstGeom>
          <a:solidFill>
            <a:srgbClr val="F0E8EA"/>
          </a:solidFill>
          <a:ln cap="flat" cmpd="sng" w="9525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GCS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" name="Google Shape;73;g3e541c0b1c5_4_19"/>
          <p:cNvSpPr/>
          <p:nvPr/>
        </p:nvSpPr>
        <p:spPr>
          <a:xfrm>
            <a:off x="8401644" y="5943600"/>
            <a:ext cx="985500" cy="310800"/>
          </a:xfrm>
          <a:prstGeom prst="roundRect">
            <a:avLst>
              <a:gd fmla="val 16667" name="adj"/>
            </a:avLst>
          </a:prstGeom>
          <a:solidFill>
            <a:srgbClr val="F0E8EA"/>
          </a:solidFill>
          <a:ln cap="flat" cmpd="sng" w="9525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MLflow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" name="Google Shape;74;g3e541c0b1c5_4_19"/>
          <p:cNvSpPr/>
          <p:nvPr/>
        </p:nvSpPr>
        <p:spPr>
          <a:xfrm>
            <a:off x="9566803" y="5943600"/>
            <a:ext cx="1970400" cy="310800"/>
          </a:xfrm>
          <a:prstGeom prst="roundRect">
            <a:avLst>
              <a:gd fmla="val 16667" name="adj"/>
            </a:avLst>
          </a:prstGeom>
          <a:solidFill>
            <a:srgbClr val="F0E8EA"/>
          </a:solidFill>
          <a:ln cap="flat" cmpd="sng" w="9525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GitHub Actions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5" name="Google Shape;75;g3e541c0b1c5_4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473" y="210900"/>
            <a:ext cx="1130476" cy="113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g3e541c0b1c5_4_19" title="Analytics_Engineering - Fabric MLOps Architecture (4).png"/>
          <p:cNvPicPr preferRelativeResize="0"/>
          <p:nvPr/>
        </p:nvPicPr>
        <p:blipFill rotWithShape="1">
          <a:blip r:embed="rId4">
            <a:alphaModFix/>
          </a:blip>
          <a:srcRect b="0" l="0" r="705" t="0"/>
          <a:stretch/>
        </p:blipFill>
        <p:spPr>
          <a:xfrm>
            <a:off x="1496625" y="1706250"/>
            <a:ext cx="7734702" cy="40849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e541c0b1c5_4_19"/>
          <p:cNvSpPr txBox="1"/>
          <p:nvPr>
            <p:ph idx="12" type="sldNum"/>
          </p:nvPr>
        </p:nvSpPr>
        <p:spPr>
          <a:xfrm>
            <a:off x="9779400" y="63395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541c0b1c5_8_11"/>
          <p:cNvSpPr txBox="1"/>
          <p:nvPr/>
        </p:nvSpPr>
        <p:spPr>
          <a:xfrm>
            <a:off x="566928" y="384048"/>
            <a:ext cx="7498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GCP Model Serving Front End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g3e541c0b1c5_8_11"/>
          <p:cNvSpPr txBox="1"/>
          <p:nvPr/>
        </p:nvSpPr>
        <p:spPr>
          <a:xfrm>
            <a:off x="566928" y="676656"/>
            <a:ext cx="969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Cloud-native front-end for inference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g3e541c0b1c5_8_11"/>
          <p:cNvSpPr txBox="1"/>
          <p:nvPr/>
        </p:nvSpPr>
        <p:spPr>
          <a:xfrm>
            <a:off x="566928" y="6473952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5" name="Google Shape;85;g3e541c0b1c5_8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473" y="210900"/>
            <a:ext cx="1130476" cy="113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e541c0b1c5_8_11" title="2026-05-27 22-49-00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5825" y="1493775"/>
            <a:ext cx="6276416" cy="470731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e541c0b1c5_8_11"/>
          <p:cNvSpPr txBox="1"/>
          <p:nvPr>
            <p:ph idx="12" type="sldNum"/>
          </p:nvPr>
        </p:nvSpPr>
        <p:spPr>
          <a:xfrm>
            <a:off x="9748700" y="64067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41c0b1c5_4_36"/>
          <p:cNvSpPr txBox="1"/>
          <p:nvPr/>
        </p:nvSpPr>
        <p:spPr>
          <a:xfrm>
            <a:off x="566928" y="384048"/>
            <a:ext cx="7498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CHALLENGES &amp; LESSONS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g3e541c0b1c5_4_36"/>
          <p:cNvSpPr txBox="1"/>
          <p:nvPr/>
        </p:nvSpPr>
        <p:spPr>
          <a:xfrm>
            <a:off x="566928" y="676656"/>
            <a:ext cx="9692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What we learned building the legal NLP platform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g3e541c0b1c5_4_36"/>
          <p:cNvSpPr txBox="1"/>
          <p:nvPr/>
        </p:nvSpPr>
        <p:spPr>
          <a:xfrm>
            <a:off x="566928" y="6473952"/>
            <a:ext cx="8229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g3e541c0b1c5_4_36"/>
          <p:cNvSpPr/>
          <p:nvPr/>
        </p:nvSpPr>
        <p:spPr>
          <a:xfrm>
            <a:off x="566925" y="3198595"/>
            <a:ext cx="5199900" cy="1367700"/>
          </a:xfrm>
          <a:prstGeom prst="roundRect">
            <a:avLst>
              <a:gd fmla="val 16667" name="adj"/>
            </a:avLst>
          </a:prstGeom>
          <a:solidFill>
            <a:srgbClr val="F5F0F1"/>
          </a:solidFill>
          <a:ln cap="flat" cmpd="sng" w="12700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g3e541c0b1c5_4_36"/>
          <p:cNvSpPr txBox="1"/>
          <p:nvPr/>
        </p:nvSpPr>
        <p:spPr>
          <a:xfrm>
            <a:off x="686925" y="3302798"/>
            <a:ext cx="49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Data Sourcing — CourtListener Rate Limits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g3e541c0b1c5_4_36"/>
          <p:cNvSpPr txBox="1"/>
          <p:nvPr/>
        </p:nvSpPr>
        <p:spPr>
          <a:xfrm>
            <a:off x="686925" y="3641458"/>
            <a:ext cx="495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79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CourtListener API enforces 5 req/min with a 125 call/day hard cap</a:t>
            </a:r>
            <a:endParaRPr sz="12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g3e541c0b1c5_4_36"/>
          <p:cNvSpPr/>
          <p:nvPr/>
        </p:nvSpPr>
        <p:spPr>
          <a:xfrm>
            <a:off x="6100000" y="2069001"/>
            <a:ext cx="5199900" cy="1626000"/>
          </a:xfrm>
          <a:prstGeom prst="roundRect">
            <a:avLst>
              <a:gd fmla="val 16667" name="adj"/>
            </a:avLst>
          </a:prstGeom>
          <a:solidFill>
            <a:srgbClr val="F5F0F1"/>
          </a:solidFill>
          <a:ln cap="flat" cmpd="sng" w="12700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g3e541c0b1c5_4_36"/>
          <p:cNvSpPr txBox="1"/>
          <p:nvPr/>
        </p:nvSpPr>
        <p:spPr>
          <a:xfrm>
            <a:off x="6219999" y="2173204"/>
            <a:ext cx="49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Target Variable Evolution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g3e541c0b1c5_4_36"/>
          <p:cNvSpPr/>
          <p:nvPr/>
        </p:nvSpPr>
        <p:spPr>
          <a:xfrm>
            <a:off x="566925" y="4696514"/>
            <a:ext cx="5199900" cy="1367700"/>
          </a:xfrm>
          <a:prstGeom prst="roundRect">
            <a:avLst>
              <a:gd fmla="val 16667" name="adj"/>
            </a:avLst>
          </a:prstGeom>
          <a:solidFill>
            <a:srgbClr val="F5F0F1"/>
          </a:solidFill>
          <a:ln cap="flat" cmpd="sng" w="12700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g3e541c0b1c5_4_36"/>
          <p:cNvSpPr txBox="1"/>
          <p:nvPr/>
        </p:nvSpPr>
        <p:spPr>
          <a:xfrm>
            <a:off x="686925" y="4800717"/>
            <a:ext cx="49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Data Sizing — BZ2 Bulk Exports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g3e541c0b1c5_4_36"/>
          <p:cNvSpPr txBox="1"/>
          <p:nvPr/>
        </p:nvSpPr>
        <p:spPr>
          <a:xfrm>
            <a:off x="686922" y="5139376"/>
            <a:ext cx="4959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CourtListener bulk exports are BZ2-compressed (~50 GB across two files), slow decompression</a:t>
            </a:r>
            <a:endParaRPr sz="1250">
              <a:solidFill>
                <a:srgbClr val="2B31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Required a two-pass relational join (clusters CSV then opinions CSV) in Cloud SQL before training data was usable</a:t>
            </a:r>
            <a:endParaRPr sz="1250">
              <a:solidFill>
                <a:srgbClr val="2B313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" name="Google Shape;103;g3e541c0b1c5_4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473" y="210900"/>
            <a:ext cx="1130476" cy="1130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e541c0b1c5_4_36"/>
          <p:cNvSpPr txBox="1"/>
          <p:nvPr/>
        </p:nvSpPr>
        <p:spPr>
          <a:xfrm>
            <a:off x="6219997" y="2439320"/>
            <a:ext cx="4959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b="1"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Precedential Status </a:t>
            </a: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(Binary): messy, failed to serve use case                                                                                                                                                                                                              </a:t>
            </a:r>
            <a:endParaRPr sz="1250">
              <a:solidFill>
                <a:srgbClr val="2B31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b="1"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Citation Impact Tier </a:t>
            </a: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(3-Class): derived from objective citation_count in the Harvard COLD Cases dataset - measures how influential a case actually became rather than how it was filed.</a:t>
            </a:r>
            <a:endParaRPr sz="1250">
              <a:solidFill>
                <a:srgbClr val="2B31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g3e541c0b1c5_4_36"/>
          <p:cNvSpPr/>
          <p:nvPr/>
        </p:nvSpPr>
        <p:spPr>
          <a:xfrm>
            <a:off x="566915" y="1676754"/>
            <a:ext cx="5199900" cy="1367700"/>
          </a:xfrm>
          <a:prstGeom prst="roundRect">
            <a:avLst>
              <a:gd fmla="val 16667" name="adj"/>
            </a:avLst>
          </a:prstGeom>
          <a:solidFill>
            <a:srgbClr val="F5F0F1"/>
          </a:solidFill>
          <a:ln cap="flat" cmpd="sng" w="12700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g3e541c0b1c5_4_36"/>
          <p:cNvSpPr txBox="1"/>
          <p:nvPr/>
        </p:nvSpPr>
        <p:spPr>
          <a:xfrm>
            <a:off x="686915" y="1780957"/>
            <a:ext cx="49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Premature Infrastructure Build-Out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g3e541c0b1c5_4_36"/>
          <p:cNvSpPr txBox="1"/>
          <p:nvPr/>
        </p:nvSpPr>
        <p:spPr>
          <a:xfrm>
            <a:off x="686915" y="2119617"/>
            <a:ext cx="4959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79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We provisioned </a:t>
            </a: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the full GCP stack (Composer, Cloud SQL, Cloud Run, Terraform modules) </a:t>
            </a:r>
            <a:r>
              <a:rPr b="1" lang="en-US" sz="1250" u="sng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before validating our data source or target variable</a:t>
            </a:r>
            <a:endParaRPr b="1" sz="1250" u="sng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g3e541c0b1c5_4_36"/>
          <p:cNvSpPr/>
          <p:nvPr/>
        </p:nvSpPr>
        <p:spPr>
          <a:xfrm>
            <a:off x="6100000" y="3836297"/>
            <a:ext cx="5199900" cy="1626000"/>
          </a:xfrm>
          <a:prstGeom prst="roundRect">
            <a:avLst>
              <a:gd fmla="val 16667" name="adj"/>
            </a:avLst>
          </a:prstGeom>
          <a:solidFill>
            <a:srgbClr val="F5F0F1"/>
          </a:solidFill>
          <a:ln cap="flat" cmpd="sng" w="12700">
            <a:solidFill>
              <a:srgbClr val="E0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g3e541c0b1c5_4_36"/>
          <p:cNvSpPr txBox="1"/>
          <p:nvPr/>
        </p:nvSpPr>
        <p:spPr>
          <a:xfrm>
            <a:off x="6219999" y="3956375"/>
            <a:ext cx="49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Provisioning Challenges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g3e541c0b1c5_4_36"/>
          <p:cNvSpPr txBox="1"/>
          <p:nvPr/>
        </p:nvSpPr>
        <p:spPr>
          <a:xfrm>
            <a:off x="6219997" y="4222490"/>
            <a:ext cx="4959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Composer 2 environments take 20–30 min to provision, making iteration painful during debugging                                                                                                                                     </a:t>
            </a:r>
            <a:endParaRPr sz="1250">
              <a:solidFill>
                <a:srgbClr val="2B31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CI/CD configuration for GitHub actions, involved process </a:t>
            </a:r>
            <a:endParaRPr sz="1250">
              <a:solidFill>
                <a:srgbClr val="2B31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Lato"/>
              <a:buChar char="●"/>
            </a:pPr>
            <a:r>
              <a:rPr lang="en-US" sz="12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Less support for AutoML solutions that leverage multimodal data (text + tabular)</a:t>
            </a:r>
            <a:endParaRPr sz="1250">
              <a:solidFill>
                <a:srgbClr val="2B31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g3e541c0b1c5_4_36"/>
          <p:cNvSpPr txBox="1"/>
          <p:nvPr>
            <p:ph idx="12" type="sldNum"/>
          </p:nvPr>
        </p:nvSpPr>
        <p:spPr>
          <a:xfrm>
            <a:off x="9963775" y="6355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INTRO &amp; PROBLEM STATEMENT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566928" y="676656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Business Problem &amp; Use Case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SECTION 1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66928" y="1408182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650"/>
              <a:buFont typeface="Calibri"/>
              <a:buNone/>
            </a:pPr>
            <a:r>
              <a:rPr lang="en-US" sz="16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Advisors often learn a student is struggling only </a:t>
            </a:r>
            <a:r>
              <a:rPr b="1" lang="en-US" sz="16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after</a:t>
            </a:r>
            <a:r>
              <a:rPr lang="en-US" sz="16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 final grades are posted. At that point, intervention opportunities are limited. This project builds an early-warning model that uses student background, academic behaviors, and support-access indicators to predict performance risk earlier in the term.</a:t>
            </a:r>
            <a:endParaRPr i="0" sz="16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728320" y="2377440"/>
            <a:ext cx="3200400" cy="2286000"/>
          </a:xfrm>
          <a:prstGeom prst="roundRect">
            <a:avLst>
              <a:gd fmla="val 4000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1917040" y="2697480"/>
            <a:ext cx="822960" cy="822960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2780" y="29032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956920" y="3611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Georg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Student signals</a:t>
            </a:r>
            <a:endParaRPr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002640" y="4005072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Study time, sleep, stress, attendance, demographics &amp; background</a:t>
            </a:r>
            <a:endParaRPr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32" name="Google Shape;1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6736" y="3364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/>
          <p:nvPr/>
        </p:nvSpPr>
        <p:spPr>
          <a:xfrm>
            <a:off x="4495648" y="2377440"/>
            <a:ext cx="3200400" cy="2286000"/>
          </a:xfrm>
          <a:prstGeom prst="roundRect">
            <a:avLst>
              <a:gd fmla="val 4000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5684368" y="26974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0108" y="29032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"/>
          <p:cNvSpPr/>
          <p:nvPr/>
        </p:nvSpPr>
        <p:spPr>
          <a:xfrm>
            <a:off x="4724248" y="3611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Georg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Predicted risk</a:t>
            </a:r>
            <a:endParaRPr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4769968" y="4005072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Model returns a Performance Score and an At-Risk flag</a:t>
            </a:r>
            <a:endParaRPr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38" name="Google Shape;1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4064" y="3364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"/>
          <p:cNvSpPr/>
          <p:nvPr/>
        </p:nvSpPr>
        <p:spPr>
          <a:xfrm>
            <a:off x="8262976" y="2377440"/>
            <a:ext cx="3200400" cy="2286000"/>
          </a:xfrm>
          <a:prstGeom prst="roundRect">
            <a:avLst>
              <a:gd fmla="val 4000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9451696" y="2697480"/>
            <a:ext cx="822960" cy="822960"/>
          </a:xfrm>
          <a:prstGeom prst="ellipse">
            <a:avLst/>
          </a:prstGeom>
          <a:solidFill>
            <a:srgbClr val="C2A14D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7436" y="29032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/>
          <p:cNvSpPr/>
          <p:nvPr/>
        </p:nvSpPr>
        <p:spPr>
          <a:xfrm>
            <a:off x="8491576" y="3611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Georg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Advisor action</a:t>
            </a:r>
            <a:endParaRPr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8537296" y="4005072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A ranked shortlist of students to reach out to early</a:t>
            </a:r>
            <a:endParaRPr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728320" y="5029200"/>
            <a:ext cx="10735056" cy="960120"/>
          </a:xfrm>
          <a:prstGeom prst="roundRect">
            <a:avLst>
              <a:gd fmla="val 7619" name="adj"/>
            </a:avLst>
          </a:prstGeom>
          <a:solidFill>
            <a:srgbClr val="FBF7F0"/>
          </a:solidFill>
          <a:ln cap="flat" cmpd="sng" w="12700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2640" y="52852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"/>
          <p:cNvSpPr/>
          <p:nvPr/>
        </p:nvSpPr>
        <p:spPr>
          <a:xfrm>
            <a:off x="1597000" y="5074925"/>
            <a:ext cx="9848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Goal: </a:t>
            </a:r>
            <a:r>
              <a:rPr i="0" lang="en-US" sz="180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augment advisors with an early, prioritized signal — not replace them or auto-grade students.</a:t>
            </a:r>
            <a:endParaRPr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INTRO &amp; PROBLEM STATEMENT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566928" y="676656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Dataset, Target &amp; Modeling Decision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SECTION 1 OF 5</a:t>
            </a:r>
            <a:endParaRPr i="0" sz="8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66928" y="178308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2600"/>
              <a:buFont typeface="Georgia"/>
              <a:buNone/>
            </a:pPr>
            <a:r>
              <a:rPr b="1" i="0" lang="en-US" sz="28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1,000</a:t>
            </a:r>
            <a:endParaRPr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2258568" y="1783080"/>
            <a:ext cx="3703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3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student records · 0 missing values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66928" y="2624328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2600"/>
              <a:buFont typeface="Georgia"/>
              <a:buNone/>
            </a:pPr>
            <a:r>
              <a:rPr b="1" i="0" lang="en-US" sz="28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0–100</a:t>
            </a:r>
            <a:endParaRPr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2258568" y="2624328"/>
            <a:ext cx="3703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350"/>
              <a:buFont typeface="Calibri"/>
              <a:buNone/>
            </a:pPr>
            <a:r>
              <a:rPr b="1" lang="en-US" sz="1650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Target</a:t>
            </a: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: continuous Performance Score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66928" y="3465576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2600"/>
              <a:buFont typeface="Georgia"/>
              <a:buNone/>
            </a:pPr>
            <a:r>
              <a:rPr b="1" i="0" lang="en-US" sz="28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&lt; 60</a:t>
            </a:r>
            <a:endParaRPr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2258568" y="3465576"/>
            <a:ext cx="3703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3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At-Risk threshold on predicted score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566928" y="4306824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2600"/>
              <a:buFont typeface="Georgia"/>
              <a:buNone/>
            </a:pPr>
            <a:r>
              <a:rPr b="1" i="0" lang="en-US" sz="28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2258568" y="4306824"/>
            <a:ext cx="3703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3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behavior, demographic &amp; background inputs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5806440" y="1783080"/>
            <a:ext cx="2907792" cy="1234440"/>
          </a:xfrm>
          <a:prstGeom prst="rect">
            <a:avLst/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5806440" y="1783080"/>
            <a:ext cx="73152" cy="1234440"/>
          </a:xfrm>
          <a:prstGeom prst="rect">
            <a:avLst/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6025896" y="1911096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6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Behavior</a:t>
            </a:r>
            <a:endParaRPr i="0" sz="16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6025896" y="2258568"/>
            <a:ext cx="24963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Study hrs · Sleep hrs · Attendance · Stress level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8970264" y="1783080"/>
            <a:ext cx="2907792" cy="1234440"/>
          </a:xfrm>
          <a:prstGeom prst="rect">
            <a:avLst/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8970264" y="1783080"/>
            <a:ext cx="73152" cy="12344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9189720" y="1911096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6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Demographics</a:t>
            </a:r>
            <a:endParaRPr i="0" sz="16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9189720" y="2258568"/>
            <a:ext cx="24963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Age · Gender · Major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5806440" y="3273552"/>
            <a:ext cx="2907792" cy="1234440"/>
          </a:xfrm>
          <a:prstGeom prst="rect">
            <a:avLst/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5806440" y="3273552"/>
            <a:ext cx="73152" cy="12344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025896" y="340156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6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i="0" sz="16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025896" y="3749040"/>
            <a:ext cx="24963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Living area · Parent education · Scholarship · Part-time job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8970264" y="3273552"/>
            <a:ext cx="2907792" cy="1234440"/>
          </a:xfrm>
          <a:prstGeom prst="rect">
            <a:avLst/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8970264" y="3273552"/>
            <a:ext cx="73152" cy="1234440"/>
          </a:xfrm>
          <a:prstGeom prst="rect">
            <a:avLst/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9189720" y="340156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6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Academic context</a:t>
            </a:r>
            <a:endParaRPr i="0" sz="16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9189720" y="3749040"/>
            <a:ext cx="24963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Extracurriculars · Internet access · Exam proximity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566928" y="5440680"/>
            <a:ext cx="11057839" cy="868680"/>
          </a:xfrm>
          <a:prstGeom prst="roundRect">
            <a:avLst>
              <a:gd fmla="val 8421" name="adj"/>
            </a:avLst>
          </a:prstGeom>
          <a:solidFill>
            <a:srgbClr val="7A1322"/>
          </a:solidFill>
          <a:ln>
            <a:noFill/>
          </a:ln>
          <a:effectLst>
            <a:outerShdw blurRad="889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" y="56509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"/>
          <p:cNvSpPr/>
          <p:nvPr/>
        </p:nvSpPr>
        <p:spPr>
          <a:xfrm>
            <a:off x="1481328" y="5458968"/>
            <a:ext cx="982339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9AE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E7D9AE"/>
                </a:solidFill>
                <a:latin typeface="Lato"/>
                <a:ea typeface="Lato"/>
                <a:cs typeface="Lato"/>
                <a:sym typeface="Lato"/>
              </a:rPr>
              <a:t>No target leakage:  </a:t>
            </a:r>
            <a:r>
              <a:rPr i="0" lang="en-US" sz="14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subject scores and final grade are excluded. Average Score is computed from subject scores, so including them would let the model trivially reconstruct the target. We learn only from advisor-actionable signals.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3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DATAFLOW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566928" y="676656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EDA Highlights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SECTION 2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612640" y="1379595"/>
            <a:ext cx="512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Target </a:t>
            </a:r>
            <a:r>
              <a:rPr b="1" i="0" lang="en-US" sz="14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Performance Score distribution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7442672" y="997475"/>
            <a:ext cx="364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Feature</a:t>
            </a:r>
            <a:r>
              <a:rPr b="1" lang="en-US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 Interactions </a:t>
            </a:r>
            <a:r>
              <a:rPr b="1" i="0" lang="en-US" sz="14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with Performance Score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612650" y="5698873"/>
            <a:ext cx="3503100" cy="66090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612653" y="5634860"/>
            <a:ext cx="3503100" cy="63900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813821" y="5513953"/>
            <a:ext cx="3100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00"/>
              <a:buFont typeface="Calibri"/>
              <a:buNone/>
            </a:pPr>
            <a:r>
              <a:rPr i="0" lang="en-US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Performance varies widely — a measurable, learnable target.</a:t>
            </a:r>
            <a:endParaRPr i="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4390050" y="5673798"/>
            <a:ext cx="3503100" cy="68610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4390064" y="5608173"/>
            <a:ext cx="3503100" cy="63900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4405025" y="5696625"/>
            <a:ext cx="34731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00"/>
              <a:buFont typeface="Calibri"/>
              <a:buNone/>
            </a:pPr>
            <a:r>
              <a:rPr i="0" lang="en-US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Behavioral features (study, attendance, stress) carry the strongest, actionable signal.</a:t>
            </a:r>
            <a:endParaRPr i="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8167425" y="5586048"/>
            <a:ext cx="3503100" cy="77370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8167464" y="5608123"/>
            <a:ext cx="3503100" cy="63900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8368600" y="5740625"/>
            <a:ext cx="3253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00"/>
              <a:buFont typeface="Calibri"/>
              <a:buNone/>
            </a:pPr>
            <a:r>
              <a:rPr i="0" lang="en-US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The 60-point threshold turns a continuous score into an advisor decision.</a:t>
            </a:r>
            <a:endParaRPr i="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5" name="Google Shape;21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50" y="1868263"/>
            <a:ext cx="5878700" cy="3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1250" y="1372462"/>
            <a:ext cx="3645825" cy="20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8738" y="3536613"/>
            <a:ext cx="3610826" cy="2043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541c0b1c5_6_0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DATAFLOW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g3e541c0b1c5_6_0"/>
          <p:cNvSpPr/>
          <p:nvPr/>
        </p:nvSpPr>
        <p:spPr>
          <a:xfrm>
            <a:off x="566928" y="676656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Dataflow &amp; Lineage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g3e541c0b1c5_6_0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541c0b1c5_6_0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541c0b1c5_6_0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e541c0b1c5_6_0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e541c0b1c5_6_0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e541c0b1c5_6_0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SECTION 2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e541c0b1c5_6_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Student Performance Risk Monitoring  ·  MLOps Final Project · ADSP 32021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e541c0b1c5_6_0"/>
          <p:cNvSpPr/>
          <p:nvPr/>
        </p:nvSpPr>
        <p:spPr>
          <a:xfrm>
            <a:off x="566928" y="1627632"/>
            <a:ext cx="11057839" cy="1143000"/>
          </a:xfrm>
          <a:prstGeom prst="roundRect">
            <a:avLst>
              <a:gd fmla="val 6400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g3e541c0b1c5_6_0"/>
          <p:cNvSpPr/>
          <p:nvPr/>
        </p:nvSpPr>
        <p:spPr>
          <a:xfrm>
            <a:off x="566928" y="1627632"/>
            <a:ext cx="109728" cy="1143000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541c0b1c5_6_0"/>
          <p:cNvSpPr/>
          <p:nvPr/>
        </p:nvSpPr>
        <p:spPr>
          <a:xfrm>
            <a:off x="886968" y="1815084"/>
            <a:ext cx="768096" cy="768096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6" name="Google Shape;236;g3e541c0b1c5_6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20071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e541c0b1c5_6_0"/>
          <p:cNvSpPr/>
          <p:nvPr/>
        </p:nvSpPr>
        <p:spPr>
          <a:xfrm>
            <a:off x="1847088" y="1810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14D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C2A14D"/>
                </a:solidFill>
                <a:latin typeface="Lato"/>
                <a:ea typeface="Lato"/>
                <a:cs typeface="Lato"/>
                <a:sym typeface="Lato"/>
              </a:rPr>
              <a:t>PILLAR 1</a:t>
            </a:r>
            <a:endParaRPr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g3e541c0b1c5_6_0"/>
          <p:cNvSpPr/>
          <p:nvPr/>
        </p:nvSpPr>
        <p:spPr>
          <a:xfrm>
            <a:off x="1847088" y="208483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Lineage</a:t>
            </a:r>
            <a:endParaRPr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g3e541c0b1c5_6_0"/>
          <p:cNvSpPr/>
          <p:nvPr/>
        </p:nvSpPr>
        <p:spPr>
          <a:xfrm>
            <a:off x="6214725" y="1901950"/>
            <a:ext cx="513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50"/>
              <a:buFont typeface="Calibri"/>
              <a:buNone/>
            </a:pPr>
            <a:r>
              <a:rPr i="1" lang="en-US" sz="1350" u="none" cap="none" strike="noStrike">
                <a:solidFill>
                  <a:srgbClr val="DCE3EA"/>
                </a:solidFill>
                <a:latin typeface="Lato"/>
                <a:ea typeface="Lato"/>
                <a:cs typeface="Lato"/>
                <a:sym typeface="Lato"/>
              </a:rPr>
              <a:t>Staged transforms; each table is contract-validated before the next stage runs.</a:t>
            </a:r>
            <a:endParaRPr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g3e541c0b1c5_6_0"/>
          <p:cNvSpPr/>
          <p:nvPr/>
        </p:nvSpPr>
        <p:spPr>
          <a:xfrm>
            <a:off x="700888" y="3063240"/>
            <a:ext cx="2286000" cy="1645920"/>
          </a:xfrm>
          <a:prstGeom prst="roundRect">
            <a:avLst>
              <a:gd fmla="val 5000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e541c0b1c5_6_0"/>
          <p:cNvSpPr/>
          <p:nvPr/>
        </p:nvSpPr>
        <p:spPr>
          <a:xfrm>
            <a:off x="1496416" y="3246120"/>
            <a:ext cx="694944" cy="694944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2" name="Google Shape;242;g3e541c0b1c5_6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0152" y="34198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e541c0b1c5_6_0"/>
          <p:cNvSpPr/>
          <p:nvPr/>
        </p:nvSpPr>
        <p:spPr>
          <a:xfrm>
            <a:off x="810616" y="3977640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Georgia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Raw CSV</a:t>
            </a:r>
            <a:endParaRPr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g3e541c0b1c5_6_0"/>
          <p:cNvSpPr/>
          <p:nvPr/>
        </p:nvSpPr>
        <p:spPr>
          <a:xfrm>
            <a:off x="810616" y="4270248"/>
            <a:ext cx="20665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50"/>
              <a:buFont typeface="Calibri"/>
              <a:buNone/>
            </a:pPr>
            <a:r>
              <a:rPr i="0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Source records,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50"/>
              <a:buFont typeface="Calibri"/>
              <a:buNone/>
            </a:pPr>
            <a:r>
              <a:rPr i="0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as collected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g3e541c0b1c5_6_0"/>
          <p:cNvSpPr/>
          <p:nvPr/>
        </p:nvSpPr>
        <p:spPr>
          <a:xfrm>
            <a:off x="2749144" y="32826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1322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g3e541c0b1c5_6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2336" y="35021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g3e541c0b1c5_6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9184" y="39044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e541c0b1c5_6_0"/>
          <p:cNvSpPr/>
          <p:nvPr/>
        </p:nvSpPr>
        <p:spPr>
          <a:xfrm>
            <a:off x="3535528" y="3063240"/>
            <a:ext cx="2286000" cy="1645920"/>
          </a:xfrm>
          <a:prstGeom prst="roundRect">
            <a:avLst>
              <a:gd fmla="val 5000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541c0b1c5_6_0"/>
          <p:cNvSpPr/>
          <p:nvPr/>
        </p:nvSpPr>
        <p:spPr>
          <a:xfrm>
            <a:off x="4331056" y="3246120"/>
            <a:ext cx="694944" cy="694944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0" name="Google Shape;250;g3e541c0b1c5_6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04792" y="34198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e541c0b1c5_6_0"/>
          <p:cNvSpPr/>
          <p:nvPr/>
        </p:nvSpPr>
        <p:spPr>
          <a:xfrm>
            <a:off x="3645256" y="3977640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Georgia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Staging</a:t>
            </a:r>
            <a:endParaRPr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g3e541c0b1c5_6_0"/>
          <p:cNvSpPr/>
          <p:nvPr/>
        </p:nvSpPr>
        <p:spPr>
          <a:xfrm>
            <a:off x="3645256" y="4270248"/>
            <a:ext cx="20665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50"/>
              <a:buFont typeface="Calibri"/>
              <a:buNone/>
            </a:pPr>
            <a:r>
              <a:rPr i="0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Hygiene only —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50"/>
              <a:buFont typeface="Calibri"/>
              <a:buNone/>
            </a:pPr>
            <a:r>
              <a:rPr i="0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dedupe · typing · drop nulls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g3e541c0b1c5_6_0"/>
          <p:cNvSpPr/>
          <p:nvPr/>
        </p:nvSpPr>
        <p:spPr>
          <a:xfrm>
            <a:off x="5583784" y="32826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1322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g3e541c0b1c5_6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6976" y="35021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5" name="Google Shape;255;g3e541c0b1c5_6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3824" y="39044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e541c0b1c5_6_0"/>
          <p:cNvSpPr/>
          <p:nvPr/>
        </p:nvSpPr>
        <p:spPr>
          <a:xfrm>
            <a:off x="6370168" y="3063240"/>
            <a:ext cx="2286000" cy="1645920"/>
          </a:xfrm>
          <a:prstGeom prst="roundRect">
            <a:avLst>
              <a:gd fmla="val 5000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e541c0b1c5_6_0"/>
          <p:cNvSpPr/>
          <p:nvPr/>
        </p:nvSpPr>
        <p:spPr>
          <a:xfrm>
            <a:off x="7165696" y="3246120"/>
            <a:ext cx="694944" cy="694944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8" name="Google Shape;258;g3e541c0b1c5_6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39432" y="34198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e541c0b1c5_6_0"/>
          <p:cNvSpPr/>
          <p:nvPr/>
        </p:nvSpPr>
        <p:spPr>
          <a:xfrm>
            <a:off x="6479896" y="3977640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Georgia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Intermediate</a:t>
            </a:r>
            <a:endParaRPr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g3e541c0b1c5_6_0"/>
          <p:cNvSpPr/>
          <p:nvPr/>
        </p:nvSpPr>
        <p:spPr>
          <a:xfrm>
            <a:off x="6479896" y="4270248"/>
            <a:ext cx="20665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50"/>
              <a:buFont typeface="Calibri"/>
              <a:buNone/>
            </a:pPr>
            <a:r>
              <a:rPr i="0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Drop leakage &amp; IDs ·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50"/>
              <a:buFont typeface="Calibri"/>
              <a:buNone/>
            </a:pPr>
            <a:r>
              <a:rPr i="0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add derived features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g3e541c0b1c5_6_0"/>
          <p:cNvSpPr/>
          <p:nvPr/>
        </p:nvSpPr>
        <p:spPr>
          <a:xfrm>
            <a:off x="8418424" y="32826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1322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g3e541c0b1c5_6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11616" y="35021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g3e541c0b1c5_6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8464" y="39044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e541c0b1c5_6_0"/>
          <p:cNvSpPr/>
          <p:nvPr/>
        </p:nvSpPr>
        <p:spPr>
          <a:xfrm>
            <a:off x="9204808" y="3063240"/>
            <a:ext cx="2286000" cy="1645920"/>
          </a:xfrm>
          <a:prstGeom prst="roundRect">
            <a:avLst>
              <a:gd fmla="val 5000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541c0b1c5_6_0"/>
          <p:cNvSpPr/>
          <p:nvPr/>
        </p:nvSpPr>
        <p:spPr>
          <a:xfrm>
            <a:off x="10000336" y="3246120"/>
            <a:ext cx="694944" cy="694944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6" name="Google Shape;266;g3e541c0b1c5_6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74072" y="34198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e541c0b1c5_6_0"/>
          <p:cNvSpPr/>
          <p:nvPr/>
        </p:nvSpPr>
        <p:spPr>
          <a:xfrm>
            <a:off x="9314536" y="3977640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Georgia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Marts</a:t>
            </a:r>
            <a:endParaRPr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g3e541c0b1c5_6_0"/>
          <p:cNvSpPr/>
          <p:nvPr/>
        </p:nvSpPr>
        <p:spPr>
          <a:xfrm>
            <a:off x="9314536" y="4270248"/>
            <a:ext cx="20665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Fixed-seed split →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training + serving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e541c0b1c5_6_0"/>
          <p:cNvSpPr/>
          <p:nvPr/>
        </p:nvSpPr>
        <p:spPr>
          <a:xfrm>
            <a:off x="566928" y="4956048"/>
            <a:ext cx="5358384" cy="896112"/>
          </a:xfrm>
          <a:prstGeom prst="roundRect">
            <a:avLst>
              <a:gd fmla="val 7143" name="adj"/>
            </a:avLst>
          </a:prstGeom>
          <a:solidFill>
            <a:srgbClr val="E7D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g3e541c0b1c5_6_0"/>
          <p:cNvSpPr/>
          <p:nvPr/>
        </p:nvSpPr>
        <p:spPr>
          <a:xfrm>
            <a:off x="566928" y="4956048"/>
            <a:ext cx="91440" cy="896112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541c0b1c5_6_0"/>
          <p:cNvSpPr/>
          <p:nvPr/>
        </p:nvSpPr>
        <p:spPr>
          <a:xfrm>
            <a:off x="822960" y="4956048"/>
            <a:ext cx="494690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E0C16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4E0C16"/>
                </a:solidFill>
                <a:latin typeface="Lato"/>
                <a:ea typeface="Lato"/>
                <a:cs typeface="Lato"/>
                <a:sym typeface="Lato"/>
              </a:rPr>
              <a:t>Two derived features added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100"/>
              <a:buFont typeface="Calibri"/>
              <a:buNone/>
            </a:pPr>
            <a:r>
              <a:rPr i="0" lang="en-US" sz="130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study-to-sleep ratio  ·  stress-adjusted attendance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g3e541c0b1c5_6_0"/>
          <p:cNvSpPr/>
          <p:nvPr/>
        </p:nvSpPr>
        <p:spPr>
          <a:xfrm>
            <a:off x="6266383" y="4956048"/>
            <a:ext cx="5358384" cy="896112"/>
          </a:xfrm>
          <a:prstGeom prst="roundRect">
            <a:avLst>
              <a:gd fmla="val 7143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g3e541c0b1c5_6_0"/>
          <p:cNvSpPr/>
          <p:nvPr/>
        </p:nvSpPr>
        <p:spPr>
          <a:xfrm>
            <a:off x="6266383" y="4956048"/>
            <a:ext cx="91440" cy="896112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g3e541c0b1c5_6_0"/>
          <p:cNvSpPr/>
          <p:nvPr/>
        </p:nvSpPr>
        <p:spPr>
          <a:xfrm>
            <a:off x="6522415" y="4956048"/>
            <a:ext cx="494690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7D9AE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E7D9AE"/>
                </a:solidFill>
                <a:latin typeface="Lato"/>
                <a:ea typeface="Lato"/>
                <a:cs typeface="Lato"/>
                <a:sym typeface="Lato"/>
              </a:rPr>
              <a:t>Governed lineage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050"/>
              <a:buFont typeface="Calibri"/>
              <a:buNone/>
            </a:pPr>
            <a:r>
              <a:rPr i="0" lang="en-US" sz="1250" u="none" cap="none" strike="noStrike">
                <a:solidFill>
                  <a:srgbClr val="DCE3EA"/>
                </a:solidFill>
                <a:latin typeface="Lato"/>
                <a:ea typeface="Lato"/>
                <a:cs typeface="Lato"/>
                <a:sym typeface="Lato"/>
              </a:rPr>
              <a:t>Every table is versioned; a contract check gates each stage, and the lineage DAG is saved as a build artifact.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g3e541c0b1c5_6_0"/>
          <p:cNvSpPr/>
          <p:nvPr/>
        </p:nvSpPr>
        <p:spPr>
          <a:xfrm>
            <a:off x="566928" y="6016752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endParaRPr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g3e541c0b1c5_6_0"/>
          <p:cNvSpPr/>
          <p:nvPr/>
        </p:nvSpPr>
        <p:spPr>
          <a:xfrm>
            <a:off x="1344168" y="6035040"/>
            <a:ext cx="1993392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g3e541c0b1c5_6_0"/>
          <p:cNvSpPr/>
          <p:nvPr/>
        </p:nvSpPr>
        <p:spPr>
          <a:xfrm>
            <a:off x="1344168" y="6035040"/>
            <a:ext cx="19933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dbt-style transforms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g3e541c0b1c5_6_0"/>
          <p:cNvSpPr/>
          <p:nvPr/>
        </p:nvSpPr>
        <p:spPr>
          <a:xfrm>
            <a:off x="3483864" y="6035040"/>
            <a:ext cx="815645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g3e541c0b1c5_6_0"/>
          <p:cNvSpPr/>
          <p:nvPr/>
        </p:nvSpPr>
        <p:spPr>
          <a:xfrm>
            <a:off x="3483864" y="6035040"/>
            <a:ext cx="81564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pandas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" name="Google Shape;280;g3e541c0b1c5_6_0"/>
          <p:cNvSpPr/>
          <p:nvPr/>
        </p:nvSpPr>
        <p:spPr>
          <a:xfrm>
            <a:off x="4445813" y="6035040"/>
            <a:ext cx="899770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g3e541c0b1c5_6_0"/>
          <p:cNvSpPr/>
          <p:nvPr/>
        </p:nvSpPr>
        <p:spPr>
          <a:xfrm>
            <a:off x="4445813" y="6035040"/>
            <a:ext cx="8997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Parquet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g3e541c0b1c5_6_0"/>
          <p:cNvSpPr/>
          <p:nvPr/>
        </p:nvSpPr>
        <p:spPr>
          <a:xfrm>
            <a:off x="5491886" y="6035040"/>
            <a:ext cx="1825142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g3e541c0b1c5_6_0"/>
          <p:cNvSpPr/>
          <p:nvPr/>
        </p:nvSpPr>
        <p:spPr>
          <a:xfrm>
            <a:off x="5491886" y="6035040"/>
            <a:ext cx="18251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scikit-learn split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g3e541c0b1c5_6_0"/>
          <p:cNvSpPr/>
          <p:nvPr/>
        </p:nvSpPr>
        <p:spPr>
          <a:xfrm>
            <a:off x="7463333" y="6035040"/>
            <a:ext cx="1488643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g3e541c0b1c5_6_0"/>
          <p:cNvSpPr/>
          <p:nvPr/>
        </p:nvSpPr>
        <p:spPr>
          <a:xfrm>
            <a:off x="7463333" y="6035040"/>
            <a:ext cx="1488643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data contracts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g3e541c0b1c5_6_0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DATAFLOW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566928" y="676656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Feature Versions &amp; Experiment Tracking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SECTION 2 OF 5</a:t>
            </a:r>
            <a:endParaRPr i="0" sz="8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66928" y="1627632"/>
            <a:ext cx="11057839" cy="1143000"/>
          </a:xfrm>
          <a:prstGeom prst="roundRect">
            <a:avLst>
              <a:gd fmla="val 6400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566928" y="1627632"/>
            <a:ext cx="109728" cy="1143000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886968" y="1815084"/>
            <a:ext cx="768096" cy="768096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20071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6"/>
          <p:cNvSpPr/>
          <p:nvPr/>
        </p:nvSpPr>
        <p:spPr>
          <a:xfrm>
            <a:off x="1847088" y="1810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14D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C2A14D"/>
                </a:solidFill>
                <a:latin typeface="Lato"/>
                <a:ea typeface="Lato"/>
                <a:cs typeface="Lato"/>
                <a:sym typeface="Lato"/>
              </a:rPr>
              <a:t>PILLAR 2</a:t>
            </a:r>
            <a:endParaRPr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1847088" y="208483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Feature Store + Experiment Tracking w/ MLFlow</a:t>
            </a:r>
            <a:endParaRPr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7443224" y="1901950"/>
            <a:ext cx="3907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50"/>
              <a:buFont typeface="Calibri"/>
              <a:buNone/>
            </a:pPr>
            <a:r>
              <a:rPr i="1" lang="en-US" sz="1350" u="none" cap="none" strike="noStrike">
                <a:solidFill>
                  <a:srgbClr val="DCE3EA"/>
                </a:solidFill>
                <a:latin typeface="Lato"/>
                <a:ea typeface="Lato"/>
                <a:cs typeface="Lato"/>
                <a:sym typeface="Lato"/>
              </a:rPr>
              <a:t>Versioned feature sets make model comparisons reproducible.</a:t>
            </a:r>
            <a:endParaRPr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566928" y="2971800"/>
            <a:ext cx="3063240" cy="1097280"/>
          </a:xfrm>
          <a:prstGeom prst="roundRect">
            <a:avLst>
              <a:gd fmla="val 7500" name="adj"/>
            </a:avLst>
          </a:prstGeom>
          <a:solidFill>
            <a:srgbClr val="F4F1EC"/>
          </a:solidFill>
          <a:ln cap="flat" cmpd="sng" w="15875">
            <a:solidFill>
              <a:srgbClr val="1E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768096" y="3099816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5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Feature Version 1</a:t>
            </a:r>
            <a:endParaRPr i="0" sz="15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768096" y="3447288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3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Original behavioral &amp; background features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566928" y="4297680"/>
            <a:ext cx="3063240" cy="1097280"/>
          </a:xfrm>
          <a:prstGeom prst="roundRect">
            <a:avLst>
              <a:gd fmla="val 7500" name="adj"/>
            </a:avLst>
          </a:prstGeom>
          <a:solidFill>
            <a:srgbClr val="F4F1EC"/>
          </a:solidFill>
          <a:ln cap="flat" cmpd="sng" w="15875">
            <a:solidFill>
              <a:srgbClr val="7A13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768096" y="4425696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450"/>
              <a:buFont typeface="Georgia"/>
              <a:buNone/>
            </a:pPr>
            <a:r>
              <a:rPr b="1" i="0" lang="en-US" sz="15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Feature Version 2</a:t>
            </a:r>
            <a:endParaRPr i="0" sz="15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768096" y="47548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Adds engineered signals: study-to-sleep ratio · stress-adjusted attendance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314" name="Google Shape;3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4760" y="39547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"/>
          <p:cNvSpPr/>
          <p:nvPr/>
        </p:nvSpPr>
        <p:spPr>
          <a:xfrm>
            <a:off x="4407408" y="2971800"/>
            <a:ext cx="3291840" cy="2423160"/>
          </a:xfrm>
          <a:prstGeom prst="roundRect">
            <a:avLst>
              <a:gd fmla="val 3774" name="adj"/>
            </a:avLst>
          </a:prstGeom>
          <a:solidFill>
            <a:srgbClr val="5B647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4590288" y="390448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Experiment Tracking</a:t>
            </a:r>
            <a:endParaRPr i="0" sz="16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4663440" y="4297680"/>
            <a:ext cx="27797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DCE3EA"/>
                </a:solidFill>
                <a:latin typeface="Lato"/>
                <a:ea typeface="Lato"/>
                <a:cs typeface="Lato"/>
                <a:sym typeface="Lato"/>
              </a:rPr>
              <a:t>Grid across feature versions × hyper-parameters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DCE3EA"/>
                </a:solidFill>
                <a:latin typeface="Lato"/>
                <a:ea typeface="Lato"/>
                <a:cs typeface="Lato"/>
                <a:sym typeface="Lato"/>
              </a:rPr>
              <a:t>Logs metrics · training time · latency · emissions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318" name="Google Shape;3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39547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"/>
          <p:cNvSpPr/>
          <p:nvPr/>
        </p:nvSpPr>
        <p:spPr>
          <a:xfrm>
            <a:off x="8476488" y="2971800"/>
            <a:ext cx="3063240" cy="2423160"/>
          </a:xfrm>
          <a:prstGeom prst="roundRect">
            <a:avLst>
              <a:gd fmla="val 3774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9642348" y="3136392"/>
            <a:ext cx="731520" cy="731520"/>
          </a:xfrm>
          <a:prstGeom prst="ellipse">
            <a:avLst/>
          </a:prstGeom>
          <a:solidFill>
            <a:srgbClr val="C2A14D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5228" y="3319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"/>
          <p:cNvSpPr/>
          <p:nvPr/>
        </p:nvSpPr>
        <p:spPr>
          <a:xfrm>
            <a:off x="8659368" y="3904488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Reproducible</a:t>
            </a:r>
            <a:endParaRPr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Model Comparison</a:t>
            </a:r>
            <a:endParaRPr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8705088" y="4599432"/>
            <a:ext cx="260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Every run is re-runnable and rankable — no one-off training.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566928" y="5833872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endParaRPr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1344168" y="5852160"/>
            <a:ext cx="815645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1344168" y="5852160"/>
            <a:ext cx="81564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pandas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2306117" y="5852160"/>
            <a:ext cx="899770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2306117" y="5852160"/>
            <a:ext cx="8997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Parquet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3352190" y="5852160"/>
            <a:ext cx="1320394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3352190" y="5852160"/>
            <a:ext cx="132039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scikit-learn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818888" y="5852160"/>
            <a:ext cx="983894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4818888" y="5852160"/>
            <a:ext cx="98389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LightGBM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5949086" y="5852160"/>
            <a:ext cx="815645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949086" y="5852160"/>
            <a:ext cx="81564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MLflow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6911035" y="5852160"/>
            <a:ext cx="1152144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6911035" y="585216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CodeCarbon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7" name="Google Shape;337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2300" y="3017286"/>
            <a:ext cx="2977450" cy="8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8900" y="3038335"/>
            <a:ext cx="763175" cy="7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6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ARCHITECTURE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566928" y="676656"/>
            <a:ext cx="9692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AutoML Training &amp; Model Selection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SECTION 3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Student Performance Risk Monitoring  ·  MLOps Final Project · ADSP 32021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566928" y="1627632"/>
            <a:ext cx="11057839" cy="1143000"/>
          </a:xfrm>
          <a:prstGeom prst="roundRect">
            <a:avLst>
              <a:gd fmla="val 6400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566928" y="1627632"/>
            <a:ext cx="109728" cy="1143000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886968" y="1815084"/>
            <a:ext cx="768096" cy="768096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20071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8"/>
          <p:cNvSpPr/>
          <p:nvPr/>
        </p:nvSpPr>
        <p:spPr>
          <a:xfrm>
            <a:off x="1847088" y="1810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14D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C2A14D"/>
                </a:solidFill>
                <a:latin typeface="Lato"/>
                <a:ea typeface="Lato"/>
                <a:cs typeface="Lato"/>
                <a:sym typeface="Lato"/>
              </a:rPr>
              <a:t>PILLAR 3</a:t>
            </a:r>
            <a:endParaRPr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1847088" y="208483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AutoML Optimization</a:t>
            </a:r>
            <a:endParaRPr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6504127" y="1901952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50"/>
              <a:buFont typeface="Calibri"/>
              <a:buNone/>
            </a:pPr>
            <a:r>
              <a:rPr i="1" lang="en-US" sz="1350" u="none" cap="none" strike="noStrike">
                <a:solidFill>
                  <a:srgbClr val="DCE3EA"/>
                </a:solidFill>
                <a:latin typeface="Lato"/>
                <a:ea typeface="Lato"/>
                <a:cs typeface="Lato"/>
                <a:sym typeface="Lato"/>
              </a:rPr>
              <a:t>AutoML compared model families and selected the strongest deployable model.</a:t>
            </a:r>
            <a:endParaRPr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61" name="Google Shape;361;p8"/>
          <p:cNvGraphicFramePr/>
          <p:nvPr/>
        </p:nvGraphicFramePr>
        <p:xfrm>
          <a:off x="566928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{A1150245-316A-4EA8-901A-9E43B847987A}</a:tableStyleId>
              </a:tblPr>
              <a:tblGrid>
                <a:gridCol w="3200400"/>
                <a:gridCol w="1280150"/>
                <a:gridCol w="1280150"/>
                <a:gridCol w="12801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Approach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RMSE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Latency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1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B31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Baseline LightGBM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1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B31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4.70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1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B31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0.80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1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B31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~1 ms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FLAML AutoML  (XGBoost) ★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13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4.08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13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0.85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13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~2 ms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13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1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B31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Top-5 feature model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1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B31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5.18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1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B31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0.76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1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B31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~0.5 ms</a:t>
                      </a:r>
                      <a:endParaRPr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ED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2" name="Google Shape;362;p8"/>
          <p:cNvSpPr/>
          <p:nvPr/>
        </p:nvSpPr>
        <p:spPr>
          <a:xfrm>
            <a:off x="566928" y="5522976"/>
            <a:ext cx="7040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050"/>
              <a:buFont typeface="Calibri"/>
              <a:buNone/>
            </a:pPr>
            <a:r>
              <a:rPr i="1" lang="en-US" sz="11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Selected by lowest hold-out RMSE while keeping interactive-grade latency.</a:t>
            </a:r>
            <a:endParaRPr i="0" sz="11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7955280" y="3200400"/>
            <a:ext cx="3669487" cy="2267712"/>
          </a:xfrm>
          <a:prstGeom prst="roundRect">
            <a:avLst>
              <a:gd fmla="val 4032" name="adj"/>
            </a:avLst>
          </a:prstGeom>
          <a:solidFill>
            <a:srgbClr val="7A132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8138160" y="4370832"/>
            <a:ext cx="330372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FLAML AutoML</a:t>
            </a:r>
            <a:endParaRPr i="0" sz="2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8183880" y="4846320"/>
            <a:ext cx="3212287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2E4"/>
              </a:buClr>
              <a:buSzPts val="1200"/>
              <a:buFont typeface="Calibri"/>
              <a:buNone/>
            </a:pPr>
            <a:r>
              <a:rPr i="0" lang="en-US" sz="1300" u="none" cap="none" strike="noStrike">
                <a:solidFill>
                  <a:srgbClr val="F0E2E4"/>
                </a:solidFill>
                <a:latin typeface="Lato"/>
                <a:ea typeface="Lato"/>
                <a:cs typeface="Lato"/>
                <a:sym typeface="Lato"/>
              </a:rPr>
              <a:t>XGBoost family · best predictive performance among working approaches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566928" y="5925312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endParaRPr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1344168" y="5943600"/>
            <a:ext cx="731520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1344168" y="5943600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FLAML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2221992" y="5943600"/>
            <a:ext cx="983894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2221992" y="5943600"/>
            <a:ext cx="98389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LightGBM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3352190" y="5943600"/>
            <a:ext cx="899770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3352190" y="5943600"/>
            <a:ext cx="8997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XGBoost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398264" y="5943600"/>
            <a:ext cx="1404518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398264" y="5943600"/>
            <a:ext cx="14045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5949086" y="5943600"/>
            <a:ext cx="1236269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5949086" y="5943600"/>
            <a:ext cx="123626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extra trees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7331659" y="5943600"/>
            <a:ext cx="1152144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7331659" y="594360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H2O AutoML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8630107" y="5943600"/>
            <a:ext cx="815645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8630107" y="5943600"/>
            <a:ext cx="81564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MLflow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1" name="Google Shape;38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2075" y="3202925"/>
            <a:ext cx="3055900" cy="12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8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TOOLS &amp; PILLARS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66928" y="676656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Monitoring &amp; Changed-Test Validation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SECTION 4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Student Performance Risk Monitoring  ·  MLOps Final Project · ADSP 32021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566928" y="1627632"/>
            <a:ext cx="11057839" cy="1143000"/>
          </a:xfrm>
          <a:prstGeom prst="roundRect">
            <a:avLst>
              <a:gd fmla="val 6400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66928" y="1627632"/>
            <a:ext cx="109728" cy="1143000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886968" y="1815084"/>
            <a:ext cx="768096" cy="768096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20071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0"/>
          <p:cNvSpPr/>
          <p:nvPr/>
        </p:nvSpPr>
        <p:spPr>
          <a:xfrm>
            <a:off x="1847088" y="1810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14D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C2A14D"/>
                </a:solidFill>
                <a:latin typeface="Lato"/>
                <a:ea typeface="Lato"/>
                <a:cs typeface="Lato"/>
                <a:sym typeface="Lato"/>
              </a:rPr>
              <a:t>PILLAR 4</a:t>
            </a:r>
            <a:endParaRPr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1847088" y="208483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Drift Monitoring</a:t>
            </a:r>
            <a:endParaRPr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6504127" y="1901952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50"/>
              <a:buFont typeface="Calibri"/>
              <a:buNone/>
            </a:pPr>
            <a:r>
              <a:rPr i="1" lang="en-US" sz="1350" u="none" cap="none" strike="noStrike">
                <a:solidFill>
                  <a:srgbClr val="DCE3EA"/>
                </a:solidFill>
                <a:latin typeface="Lato"/>
                <a:ea typeface="Lato"/>
                <a:cs typeface="Lato"/>
                <a:sym typeface="Lato"/>
              </a:rPr>
              <a:t>An academic-stress scenario tests whether the model &amp; monitoring respond to shifted data.</a:t>
            </a:r>
            <a:endParaRPr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567003" y="2953483"/>
            <a:ext cx="1105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Calibri"/>
                <a:ea typeface="Calibri"/>
                <a:cs typeface="Calibri"/>
                <a:sym typeface="Calibri"/>
              </a:rPr>
              <a:t>Changed features:  </a:t>
            </a:r>
            <a:r>
              <a:rPr b="0" i="0" lang="en-US" sz="1450" u="none" cap="none" strike="noStrike">
                <a:solidFill>
                  <a:srgbClr val="2B313B"/>
                </a:solidFill>
                <a:latin typeface="Calibri"/>
                <a:ea typeface="Calibri"/>
                <a:cs typeface="Calibri"/>
                <a:sym typeface="Calibri"/>
              </a:rPr>
              <a:t>study hrs −50%  ·  stress +3  ·  sleep −1.5 hrs  ·  attendance −15 pts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66926" y="3456425"/>
            <a:ext cx="2011800" cy="2011800"/>
          </a:xfrm>
          <a:prstGeom prst="roundRect">
            <a:avLst>
              <a:gd fmla="val 4091" name="adj"/>
            </a:avLst>
          </a:prstGeom>
          <a:solidFill>
            <a:srgbClr val="F4F1EC"/>
          </a:solidFill>
          <a:ln cap="flat" cmpd="sng" w="15875">
            <a:solidFill>
              <a:srgbClr val="1E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692658" y="3584441"/>
            <a:ext cx="176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Original test set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692658" y="4005065"/>
            <a:ext cx="110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RMSE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1773946" y="4005065"/>
            <a:ext cx="6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4.08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692658" y="4352537"/>
            <a:ext cx="110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R²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1773946" y="4352537"/>
            <a:ext cx="6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0.8</a:t>
            </a:r>
            <a:r>
              <a:rPr b="1" lang="en-US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92658" y="4700009"/>
            <a:ext cx="110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Mean predicted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1773946" y="4700009"/>
            <a:ext cx="6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71.2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692658" y="5047481"/>
            <a:ext cx="110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At-Risk rate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1773946" y="5047481"/>
            <a:ext cx="6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14%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3158004" y="3470088"/>
            <a:ext cx="2011800" cy="2011800"/>
          </a:xfrm>
          <a:prstGeom prst="roundRect">
            <a:avLst>
              <a:gd fmla="val 4091" name="adj"/>
            </a:avLst>
          </a:prstGeom>
          <a:solidFill>
            <a:srgbClr val="F4F1EC"/>
          </a:solidFill>
          <a:ln cap="flat" cmpd="sng" w="15875">
            <a:solidFill>
              <a:srgbClr val="7A13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3283741" y="3598103"/>
            <a:ext cx="17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450"/>
              <a:buFont typeface="Georgia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Changed test set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3283741" y="4018726"/>
            <a:ext cx="110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RMSE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365084" y="4018726"/>
            <a:ext cx="6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19.6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3283741" y="4366197"/>
            <a:ext cx="110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R²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365084" y="4366197"/>
            <a:ext cx="6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−2.4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3283741" y="4713668"/>
            <a:ext cx="110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Mean predicted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365084" y="4713668"/>
            <a:ext cx="6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53.2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3283741" y="5061140"/>
            <a:ext cx="110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At-Risk rate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365084" y="5061140"/>
            <a:ext cx="6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70%</a:t>
            </a:r>
            <a:endParaRPr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25" name="Google Shape;4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9970" y="4320537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0"/>
          <p:cNvSpPr/>
          <p:nvPr/>
        </p:nvSpPr>
        <p:spPr>
          <a:xfrm>
            <a:off x="5522325" y="3820475"/>
            <a:ext cx="1902600" cy="1311000"/>
          </a:xfrm>
          <a:prstGeom prst="roundRect">
            <a:avLst>
              <a:gd fmla="val 4545" name="adj"/>
            </a:avLst>
          </a:prstGeom>
          <a:solidFill>
            <a:srgbClr val="7A1322"/>
          </a:solidFill>
          <a:ln>
            <a:noFill/>
          </a:ln>
          <a:effectLst>
            <a:outerShdw blurRad="66207" rotWithShape="0" algn="bl" dir="8100000" dist="16552">
              <a:srgbClr val="000000">
                <a:alpha val="20000"/>
              </a:srgbClr>
            </a:outerShdw>
          </a:effectLst>
        </p:spPr>
        <p:txBody>
          <a:bodyPr anchorCtr="0" anchor="ctr" bIns="59575" lIns="59575" spcFirstLastPara="1" rIns="59575" wrap="square" tIns="5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2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27" name="Google Shape;42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4856" y="3963482"/>
            <a:ext cx="357515" cy="35751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0"/>
          <p:cNvSpPr/>
          <p:nvPr/>
        </p:nvSpPr>
        <p:spPr>
          <a:xfrm>
            <a:off x="5611704" y="4368668"/>
            <a:ext cx="17238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9AE"/>
              </a:buClr>
              <a:buSzPts val="782"/>
              <a:buFont typeface="Calibri"/>
              <a:buNone/>
            </a:pPr>
            <a:r>
              <a:rPr i="0" lang="en-US" sz="1182" u="none" cap="none" strike="noStrike">
                <a:solidFill>
                  <a:srgbClr val="E7D9AE"/>
                </a:solidFill>
                <a:latin typeface="Lato"/>
                <a:ea typeface="Lato"/>
                <a:cs typeface="Lato"/>
                <a:sym typeface="Lato"/>
              </a:rPr>
              <a:t>Prediction drift PSI</a:t>
            </a:r>
            <a:endParaRPr i="0" sz="118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5611704" y="4535510"/>
            <a:ext cx="17238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6"/>
              <a:buFont typeface="Georgia"/>
              <a:buNone/>
            </a:pPr>
            <a:r>
              <a:rPr b="1" i="0" lang="en-US" sz="201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3.97</a:t>
            </a:r>
            <a:endParaRPr i="0" sz="2016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5611704" y="4904944"/>
            <a:ext cx="17238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9AE"/>
              </a:buClr>
              <a:buSzPts val="717"/>
              <a:buFont typeface="Calibri"/>
              <a:buNone/>
            </a:pPr>
            <a:r>
              <a:rPr b="1" i="0" lang="en-US" sz="917" u="none" cap="none" strike="noStrike">
                <a:solidFill>
                  <a:srgbClr val="E7D9AE"/>
                </a:solidFill>
                <a:latin typeface="Lato"/>
                <a:ea typeface="Lato"/>
                <a:cs typeface="Lato"/>
                <a:sym typeface="Lato"/>
              </a:rPr>
              <a:t>MAJOR DRIFT  ( &gt; 0.25 )</a:t>
            </a:r>
            <a:endParaRPr i="0" sz="917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566928" y="5925312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1344168" y="5943600"/>
            <a:ext cx="563270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1344168" y="5943600"/>
            <a:ext cx="5632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2053742" y="5943600"/>
            <a:ext cx="1068019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2053742" y="5943600"/>
            <a:ext cx="106801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Evidently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3268066" y="5943600"/>
            <a:ext cx="1068019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3268066" y="5943600"/>
            <a:ext cx="106801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482389" y="5943600"/>
            <a:ext cx="1993392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4482389" y="5943600"/>
            <a:ext cx="19933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scikit-learn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0000" y="3465825"/>
            <a:ext cx="4358100" cy="246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1" name="Google Shape;4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0608" y="4302637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5500" y="483438"/>
            <a:ext cx="4513126" cy="134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0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9" name="Google Shape;449;p7"/>
          <p:cNvCxnSpPr/>
          <p:nvPr/>
        </p:nvCxnSpPr>
        <p:spPr>
          <a:xfrm>
            <a:off x="10302088" y="3494125"/>
            <a:ext cx="0" cy="502800"/>
          </a:xfrm>
          <a:prstGeom prst="straightConnector1">
            <a:avLst/>
          </a:prstGeom>
          <a:noFill/>
          <a:ln cap="flat" cmpd="sng" w="25400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7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ARCHITECTURE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566928" y="676656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End-to-End MLOps Architecture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7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7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7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7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SECTION 3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Student Performance Risk Monitoring  ·  MLOps Final Project · ADSP 32021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7"/>
          <p:cNvSpPr/>
          <p:nvPr/>
        </p:nvSpPr>
        <p:spPr>
          <a:xfrm>
            <a:off x="566926" y="1248149"/>
            <a:ext cx="7711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500"/>
              <a:buFont typeface="Calibri"/>
              <a:buNone/>
            </a:pPr>
            <a:r>
              <a:rPr i="0" lang="en-US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Data preparation → model selection → deployment → monitoring, as one connected system.</a:t>
            </a:r>
            <a:endParaRPr i="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7"/>
          <p:cNvSpPr/>
          <p:nvPr/>
        </p:nvSpPr>
        <p:spPr>
          <a:xfrm>
            <a:off x="1011784" y="228600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1569568" y="2468880"/>
            <a:ext cx="640080" cy="640080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2" name="Google Shape;4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9588" y="26289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7"/>
          <p:cNvSpPr/>
          <p:nvPr/>
        </p:nvSpPr>
        <p:spPr>
          <a:xfrm>
            <a:off x="1084936" y="3154680"/>
            <a:ext cx="16093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Student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dataset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64" name="Google Shape;4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4008" y="2834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7"/>
          <p:cNvSpPr/>
          <p:nvPr/>
        </p:nvSpPr>
        <p:spPr>
          <a:xfrm>
            <a:off x="3114904" y="228600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6" name="Google Shape;466;p7"/>
          <p:cNvSpPr/>
          <p:nvPr/>
        </p:nvSpPr>
        <p:spPr>
          <a:xfrm>
            <a:off x="3672688" y="246888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2708" y="26289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7"/>
          <p:cNvSpPr/>
          <p:nvPr/>
        </p:nvSpPr>
        <p:spPr>
          <a:xfrm>
            <a:off x="3188056" y="3154680"/>
            <a:ext cx="16093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lang="en-US" sz="1250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Staged Data Lineage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69" name="Google Shape;4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7128" y="2834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7"/>
          <p:cNvSpPr/>
          <p:nvPr/>
        </p:nvSpPr>
        <p:spPr>
          <a:xfrm>
            <a:off x="5218024" y="228600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7"/>
          <p:cNvSpPr/>
          <p:nvPr/>
        </p:nvSpPr>
        <p:spPr>
          <a:xfrm>
            <a:off x="5775808" y="246888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5828" y="26289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7"/>
          <p:cNvSpPr/>
          <p:nvPr/>
        </p:nvSpPr>
        <p:spPr>
          <a:xfrm>
            <a:off x="5291176" y="3154680"/>
            <a:ext cx="16093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Feature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versioning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74" name="Google Shape;4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248" y="2834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7"/>
          <p:cNvSpPr/>
          <p:nvPr/>
        </p:nvSpPr>
        <p:spPr>
          <a:xfrm>
            <a:off x="7321144" y="228600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" name="Google Shape;476;p7"/>
          <p:cNvSpPr/>
          <p:nvPr/>
        </p:nvSpPr>
        <p:spPr>
          <a:xfrm>
            <a:off x="7878928" y="246888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7" name="Google Shape;47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8948" y="26289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7"/>
          <p:cNvSpPr/>
          <p:nvPr/>
        </p:nvSpPr>
        <p:spPr>
          <a:xfrm>
            <a:off x="7394296" y="3154680"/>
            <a:ext cx="16093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MLflow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experiments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79" name="Google Shape;4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3368" y="2834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7"/>
          <p:cNvSpPr/>
          <p:nvPr/>
        </p:nvSpPr>
        <p:spPr>
          <a:xfrm>
            <a:off x="9424264" y="228600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1" name="Google Shape;481;p7"/>
          <p:cNvSpPr/>
          <p:nvPr/>
        </p:nvSpPr>
        <p:spPr>
          <a:xfrm>
            <a:off x="9982048" y="2468880"/>
            <a:ext cx="640080" cy="640080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42068" y="26289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7"/>
          <p:cNvSpPr/>
          <p:nvPr/>
        </p:nvSpPr>
        <p:spPr>
          <a:xfrm>
            <a:off x="9497416" y="3154680"/>
            <a:ext cx="16093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AutoML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selection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84" name="Google Shape;4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2804000" y="3978099"/>
            <a:ext cx="306350" cy="306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"/>
          <p:cNvSpPr/>
          <p:nvPr/>
        </p:nvSpPr>
        <p:spPr>
          <a:xfrm>
            <a:off x="2063344" y="429768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7"/>
          <p:cNvSpPr/>
          <p:nvPr/>
        </p:nvSpPr>
        <p:spPr>
          <a:xfrm>
            <a:off x="2621128" y="4480560"/>
            <a:ext cx="640080" cy="640080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81148" y="46405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7"/>
          <p:cNvSpPr/>
          <p:nvPr/>
        </p:nvSpPr>
        <p:spPr>
          <a:xfrm>
            <a:off x="2136496" y="5166360"/>
            <a:ext cx="16093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Selected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model artifact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89" name="Google Shape;4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5568" y="4846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"/>
          <p:cNvSpPr/>
          <p:nvPr/>
        </p:nvSpPr>
        <p:spPr>
          <a:xfrm>
            <a:off x="4166464" y="429768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" name="Google Shape;491;p7"/>
          <p:cNvSpPr/>
          <p:nvPr/>
        </p:nvSpPr>
        <p:spPr>
          <a:xfrm>
            <a:off x="4724248" y="448056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2" name="Google Shape;492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84268" y="46405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7"/>
          <p:cNvSpPr/>
          <p:nvPr/>
        </p:nvSpPr>
        <p:spPr>
          <a:xfrm>
            <a:off x="4239616" y="5166360"/>
            <a:ext cx="16093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FastAPI +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94" name="Google Shape;4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688" y="4846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7"/>
          <p:cNvSpPr/>
          <p:nvPr/>
        </p:nvSpPr>
        <p:spPr>
          <a:xfrm>
            <a:off x="6269584" y="429768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" name="Google Shape;496;p7"/>
          <p:cNvSpPr/>
          <p:nvPr/>
        </p:nvSpPr>
        <p:spPr>
          <a:xfrm>
            <a:off x="6827368" y="448056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87388" y="46405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7"/>
          <p:cNvSpPr/>
          <p:nvPr/>
        </p:nvSpPr>
        <p:spPr>
          <a:xfrm>
            <a:off x="6342736" y="5166360"/>
            <a:ext cx="16093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Evidently /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PSI monitoring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99" name="Google Shape;4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1808" y="4846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7"/>
          <p:cNvSpPr/>
          <p:nvPr/>
        </p:nvSpPr>
        <p:spPr>
          <a:xfrm>
            <a:off x="8372704" y="4297680"/>
            <a:ext cx="1755648" cy="1371600"/>
          </a:xfrm>
          <a:prstGeom prst="roundRect">
            <a:avLst>
              <a:gd fmla="val 5333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" name="Google Shape;501;p7"/>
          <p:cNvSpPr/>
          <p:nvPr/>
        </p:nvSpPr>
        <p:spPr>
          <a:xfrm>
            <a:off x="8930488" y="4480560"/>
            <a:ext cx="640080" cy="640080"/>
          </a:xfrm>
          <a:prstGeom prst="ellipse">
            <a:avLst/>
          </a:prstGeom>
          <a:solidFill>
            <a:srgbClr val="C2A14D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2" name="Google Shape;50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90508" y="46405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7"/>
          <p:cNvSpPr/>
          <p:nvPr/>
        </p:nvSpPr>
        <p:spPr>
          <a:xfrm>
            <a:off x="8445856" y="5166360"/>
            <a:ext cx="160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Advisor /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model review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4" name="Google Shape;504;p7"/>
          <p:cNvCxnSpPr/>
          <p:nvPr/>
        </p:nvCxnSpPr>
        <p:spPr>
          <a:xfrm rot="10800000">
            <a:off x="2941288" y="3996920"/>
            <a:ext cx="7360800" cy="0"/>
          </a:xfrm>
          <a:prstGeom prst="straightConnector1">
            <a:avLst/>
          </a:prstGeom>
          <a:noFill/>
          <a:ln cap="flat" cmpd="sng" w="25400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7"/>
          <p:cNvSpPr/>
          <p:nvPr/>
        </p:nvSpPr>
        <p:spPr>
          <a:xfrm>
            <a:off x="566928" y="5879592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endParaRPr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6" name="Google Shape;506;p7"/>
          <p:cNvSpPr/>
          <p:nvPr/>
        </p:nvSpPr>
        <p:spPr>
          <a:xfrm>
            <a:off x="1344168" y="5897880"/>
            <a:ext cx="815645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" name="Google Shape;507;p7"/>
          <p:cNvSpPr/>
          <p:nvPr/>
        </p:nvSpPr>
        <p:spPr>
          <a:xfrm>
            <a:off x="1344168" y="5897880"/>
            <a:ext cx="81564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8" name="Google Shape;508;p7"/>
          <p:cNvSpPr/>
          <p:nvPr/>
        </p:nvSpPr>
        <p:spPr>
          <a:xfrm>
            <a:off x="2306117" y="5897880"/>
            <a:ext cx="815645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" name="Google Shape;509;p7"/>
          <p:cNvSpPr/>
          <p:nvPr/>
        </p:nvSpPr>
        <p:spPr>
          <a:xfrm>
            <a:off x="2306117" y="5897880"/>
            <a:ext cx="81564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pandas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7"/>
          <p:cNvSpPr/>
          <p:nvPr/>
        </p:nvSpPr>
        <p:spPr>
          <a:xfrm>
            <a:off x="3268066" y="5897880"/>
            <a:ext cx="1320394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1" name="Google Shape;511;p7"/>
          <p:cNvSpPr/>
          <p:nvPr/>
        </p:nvSpPr>
        <p:spPr>
          <a:xfrm>
            <a:off x="3268066" y="5897880"/>
            <a:ext cx="132039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scikit-learn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" name="Google Shape;512;p7"/>
          <p:cNvSpPr/>
          <p:nvPr/>
        </p:nvSpPr>
        <p:spPr>
          <a:xfrm>
            <a:off x="4734763" y="5897880"/>
            <a:ext cx="815645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" name="Google Shape;513;p7"/>
          <p:cNvSpPr/>
          <p:nvPr/>
        </p:nvSpPr>
        <p:spPr>
          <a:xfrm>
            <a:off x="4734763" y="5897880"/>
            <a:ext cx="81564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MLflow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" name="Google Shape;514;p7"/>
          <p:cNvSpPr/>
          <p:nvPr/>
        </p:nvSpPr>
        <p:spPr>
          <a:xfrm>
            <a:off x="5696712" y="5897880"/>
            <a:ext cx="731520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" name="Google Shape;515;p7"/>
          <p:cNvSpPr/>
          <p:nvPr/>
        </p:nvSpPr>
        <p:spPr>
          <a:xfrm>
            <a:off x="5696712" y="5897880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FLAML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" name="Google Shape;516;p7"/>
          <p:cNvSpPr/>
          <p:nvPr/>
        </p:nvSpPr>
        <p:spPr>
          <a:xfrm>
            <a:off x="6574536" y="5897880"/>
            <a:ext cx="899770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7" name="Google Shape;517;p7"/>
          <p:cNvSpPr/>
          <p:nvPr/>
        </p:nvSpPr>
        <p:spPr>
          <a:xfrm>
            <a:off x="6574536" y="5897880"/>
            <a:ext cx="8997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FastAPI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" name="Google Shape;518;p7"/>
          <p:cNvSpPr/>
          <p:nvPr/>
        </p:nvSpPr>
        <p:spPr>
          <a:xfrm>
            <a:off x="7620610" y="5897880"/>
            <a:ext cx="1068019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" name="Google Shape;519;p7"/>
          <p:cNvSpPr/>
          <p:nvPr/>
        </p:nvSpPr>
        <p:spPr>
          <a:xfrm>
            <a:off x="7620610" y="5897880"/>
            <a:ext cx="106801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8834933" y="5897880"/>
            <a:ext cx="1068019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" name="Google Shape;521;p7"/>
          <p:cNvSpPr/>
          <p:nvPr/>
        </p:nvSpPr>
        <p:spPr>
          <a:xfrm>
            <a:off x="8834933" y="5897880"/>
            <a:ext cx="106801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Evidently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10049256" y="5897880"/>
            <a:ext cx="815645" cy="310896"/>
          </a:xfrm>
          <a:prstGeom prst="roundRect">
            <a:avLst>
              <a:gd fmla="val 14706" name="adj"/>
            </a:avLst>
          </a:prstGeom>
          <a:solidFill>
            <a:srgbClr val="F4F1EC"/>
          </a:solidFill>
          <a:ln cap="flat" cmpd="sng" w="9525">
            <a:solidFill>
              <a:srgbClr val="C2A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3" name="Google Shape;523;p7"/>
          <p:cNvSpPr/>
          <p:nvPr/>
        </p:nvSpPr>
        <p:spPr>
          <a:xfrm>
            <a:off x="10049256" y="5897880"/>
            <a:ext cx="81564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GitHub</a:t>
            </a:r>
            <a:endParaRPr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4" name="Google Shape;524;p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696625" y="878838"/>
            <a:ext cx="2605476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136177" y="621800"/>
            <a:ext cx="1879900" cy="109967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7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ARCHITECTURE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" name="Google Shape;533;p9"/>
          <p:cNvSpPr/>
          <p:nvPr/>
        </p:nvSpPr>
        <p:spPr>
          <a:xfrm>
            <a:off x="566928" y="676656"/>
            <a:ext cx="9692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Deployment for Inference &amp; Demo Touchpoints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9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9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9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9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SECTION 3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Student Performance Risk Monitoring  ·  MLOps Final Project · ADSP 32021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9"/>
          <p:cNvSpPr/>
          <p:nvPr/>
        </p:nvSpPr>
        <p:spPr>
          <a:xfrm>
            <a:off x="566926" y="1313237"/>
            <a:ext cx="1789800" cy="1179600"/>
          </a:xfrm>
          <a:prstGeom prst="roundRect">
            <a:avLst>
              <a:gd fmla="val 5517" name="adj"/>
            </a:avLst>
          </a:prstGeom>
          <a:solidFill>
            <a:srgbClr val="F4F1EC"/>
          </a:solidFill>
          <a:ln cap="flat" cmpd="sng" w="113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56492" rotWithShape="0" algn="bl" dir="8100000" dist="22597">
              <a:srgbClr val="000000">
                <a:alpha val="10196"/>
              </a:srgbClr>
            </a:outerShdw>
          </a:effectLst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1176516" y="1517296"/>
            <a:ext cx="569400" cy="56940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67790" rotWithShape="0" algn="bl" dir="8100000" dist="22597">
              <a:srgbClr val="000000">
                <a:alpha val="18039"/>
              </a:srgbClr>
            </a:outerShdw>
          </a:effectLst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3" name="Google Shape;5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952" y="1659604"/>
            <a:ext cx="284717" cy="284717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9"/>
          <p:cNvSpPr/>
          <p:nvPr/>
        </p:nvSpPr>
        <p:spPr>
          <a:xfrm>
            <a:off x="760426" y="2086087"/>
            <a:ext cx="1402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023"/>
              <a:buFont typeface="Calibri"/>
              <a:buNone/>
            </a:pPr>
            <a:r>
              <a:rPr b="1" i="0" lang="en-US" sz="1212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Raw student</a:t>
            </a:r>
            <a:endParaRPr i="0" sz="121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023"/>
              <a:buFont typeface="Calibri"/>
              <a:buNone/>
            </a:pPr>
            <a:r>
              <a:rPr b="1" i="0" lang="en-US" sz="1212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profile</a:t>
            </a:r>
            <a:endParaRPr i="0" sz="121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545" name="Google Shape;54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3867" y="1756608"/>
            <a:ext cx="292852" cy="292852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9"/>
          <p:cNvSpPr/>
          <p:nvPr/>
        </p:nvSpPr>
        <p:spPr>
          <a:xfrm>
            <a:off x="2963854" y="1313237"/>
            <a:ext cx="1789800" cy="1179600"/>
          </a:xfrm>
          <a:prstGeom prst="roundRect">
            <a:avLst>
              <a:gd fmla="val 5517" name="adj"/>
            </a:avLst>
          </a:prstGeom>
          <a:solidFill>
            <a:srgbClr val="F4F1EC"/>
          </a:solidFill>
          <a:ln cap="flat" cmpd="sng" w="113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56492" rotWithShape="0" algn="bl" dir="8100000" dist="22597">
              <a:srgbClr val="000000">
                <a:alpha val="10196"/>
              </a:srgbClr>
            </a:outerShdw>
          </a:effectLst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9"/>
          <p:cNvSpPr/>
          <p:nvPr/>
        </p:nvSpPr>
        <p:spPr>
          <a:xfrm>
            <a:off x="3491769" y="1517296"/>
            <a:ext cx="569400" cy="569400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67790" rotWithShape="0" algn="bl" dir="8100000" dist="22597">
              <a:srgbClr val="000000">
                <a:alpha val="18039"/>
              </a:srgbClr>
            </a:outerShdw>
          </a:effectLst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8" name="Google Shape;5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4117" y="1673404"/>
            <a:ext cx="284717" cy="284717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9"/>
          <p:cNvSpPr/>
          <p:nvPr/>
        </p:nvSpPr>
        <p:spPr>
          <a:xfrm>
            <a:off x="3028945" y="2086067"/>
            <a:ext cx="1659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023"/>
              <a:buFont typeface="Calibri"/>
              <a:buNone/>
            </a:pPr>
            <a:r>
              <a:rPr b="1" i="0" lang="en-US" sz="1212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Inference</a:t>
            </a:r>
            <a:endParaRPr i="0" sz="121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023"/>
              <a:buFont typeface="Calibri"/>
              <a:buNone/>
            </a:pPr>
            <a:r>
              <a:rPr b="1" i="0" lang="en-US" sz="1212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service</a:t>
            </a:r>
            <a:endParaRPr i="0" sz="121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550" name="Google Shape;5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3520" y="1756608"/>
            <a:ext cx="292852" cy="292852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9"/>
          <p:cNvSpPr/>
          <p:nvPr/>
        </p:nvSpPr>
        <p:spPr>
          <a:xfrm>
            <a:off x="5345619" y="1313237"/>
            <a:ext cx="1789800" cy="1179600"/>
          </a:xfrm>
          <a:prstGeom prst="roundRect">
            <a:avLst>
              <a:gd fmla="val 5517" name="adj"/>
            </a:avLst>
          </a:prstGeom>
          <a:solidFill>
            <a:srgbClr val="F4F1EC"/>
          </a:solidFill>
          <a:ln cap="flat" cmpd="sng" w="113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56492" rotWithShape="0" algn="bl" dir="8100000" dist="22597">
              <a:srgbClr val="000000">
                <a:alpha val="10196"/>
              </a:srgbClr>
            </a:outerShdw>
          </a:effectLst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5923272" y="1475958"/>
            <a:ext cx="569400" cy="56940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67790" rotWithShape="0" algn="bl" dir="8100000" dist="22597">
              <a:srgbClr val="000000">
                <a:alpha val="18039"/>
              </a:srgbClr>
            </a:outerShdw>
          </a:effectLst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3" name="Google Shape;55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5620" y="1618317"/>
            <a:ext cx="284717" cy="28471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9"/>
          <p:cNvSpPr/>
          <p:nvPr/>
        </p:nvSpPr>
        <p:spPr>
          <a:xfrm>
            <a:off x="5449336" y="2086067"/>
            <a:ext cx="1659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023"/>
              <a:buFont typeface="Calibri"/>
              <a:buNone/>
            </a:pPr>
            <a:r>
              <a:rPr b="1" i="0" lang="en-US" sz="1212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Selected</a:t>
            </a:r>
            <a:endParaRPr i="0" sz="121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023"/>
              <a:buFont typeface="Calibri"/>
              <a:buNone/>
            </a:pPr>
            <a:r>
              <a:rPr b="1" i="0" lang="en-US" sz="1212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i="0" sz="121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555" name="Google Shape;55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4998" y="1686258"/>
            <a:ext cx="292852" cy="292852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9"/>
          <p:cNvSpPr/>
          <p:nvPr/>
        </p:nvSpPr>
        <p:spPr>
          <a:xfrm>
            <a:off x="7727397" y="1313237"/>
            <a:ext cx="1789800" cy="1179600"/>
          </a:xfrm>
          <a:prstGeom prst="roundRect">
            <a:avLst>
              <a:gd fmla="val 5517" name="adj"/>
            </a:avLst>
          </a:prstGeom>
          <a:solidFill>
            <a:srgbClr val="F4F1EC"/>
          </a:solidFill>
          <a:ln cap="flat" cmpd="sng" w="113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  <a:effectLst>
            <a:outerShdw blurRad="56492" rotWithShape="0" algn="bl" dir="8100000" dist="22597">
              <a:srgbClr val="000000">
                <a:alpha val="10196"/>
              </a:srgbClr>
            </a:outerShdw>
          </a:effectLst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8287675" y="1489708"/>
            <a:ext cx="569400" cy="569400"/>
          </a:xfrm>
          <a:prstGeom prst="ellipse">
            <a:avLst/>
          </a:prstGeom>
          <a:solidFill>
            <a:srgbClr val="C2A14D"/>
          </a:solidFill>
          <a:ln>
            <a:noFill/>
          </a:ln>
          <a:effectLst>
            <a:outerShdw blurRad="67790" rotWithShape="0" algn="bl" dir="8100000" dist="22597">
              <a:srgbClr val="000000">
                <a:alpha val="18039"/>
              </a:srgbClr>
            </a:outerShdw>
          </a:effectLst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9998" y="1646017"/>
            <a:ext cx="284717" cy="284717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9"/>
          <p:cNvSpPr/>
          <p:nvPr/>
        </p:nvSpPr>
        <p:spPr>
          <a:xfrm>
            <a:off x="7869700" y="2086074"/>
            <a:ext cx="1460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023"/>
              <a:buFont typeface="Calibri"/>
              <a:buNone/>
            </a:pPr>
            <a:r>
              <a:rPr b="1" i="0" lang="en-US" sz="1212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Score +</a:t>
            </a:r>
            <a:endParaRPr i="0" sz="121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023"/>
              <a:buFont typeface="Calibri"/>
              <a:buNone/>
            </a:pPr>
            <a:r>
              <a:rPr b="1" i="0" lang="en-US" sz="1212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At-Risk flag</a:t>
            </a:r>
            <a:endParaRPr i="0" sz="1212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10109175" y="1333600"/>
            <a:ext cx="1659600" cy="1122300"/>
          </a:xfrm>
          <a:prstGeom prst="roundRect">
            <a:avLst>
              <a:gd fmla="val 5806" name="adj"/>
            </a:avLst>
          </a:prstGeom>
          <a:solidFill>
            <a:srgbClr val="F4F1EC"/>
          </a:solidFill>
          <a:ln cap="flat" cmpd="sng" w="12700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10613900" y="1461950"/>
            <a:ext cx="603600" cy="569400"/>
          </a:xfrm>
          <a:prstGeom prst="ellipse">
            <a:avLst/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69278" y="1545448"/>
            <a:ext cx="292850" cy="2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9"/>
          <p:cNvSpPr/>
          <p:nvPr/>
        </p:nvSpPr>
        <p:spPr>
          <a:xfrm>
            <a:off x="10493475" y="2703748"/>
            <a:ext cx="1051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Georgia"/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10317825" y="1986325"/>
            <a:ext cx="140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1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tudent scoring + </a:t>
            </a:r>
            <a:endParaRPr b="1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Monitoring</a:t>
            </a:r>
            <a:endParaRPr b="1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5" name="Google Shape;565;p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50325" y="2668375"/>
            <a:ext cx="5605658" cy="2978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6575" y="2701763"/>
            <a:ext cx="6053524" cy="315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7" name="Google Shape;5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6760" y="1686258"/>
            <a:ext cx="292852" cy="292852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9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9" name="Google Shape;569;p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91675" y="5452648"/>
            <a:ext cx="4922962" cy="248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1"/>
          <p:cNvSpPr/>
          <p:nvPr/>
        </p:nvSpPr>
        <p:spPr>
          <a:xfrm>
            <a:off x="566928" y="3840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TOOLS &amp; PILLARS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" name="Google Shape;576;p11"/>
          <p:cNvSpPr/>
          <p:nvPr/>
        </p:nvSpPr>
        <p:spPr>
          <a:xfrm>
            <a:off x="566928" y="676656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Four Pillars &amp; Tool Stack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" name="Google Shape;577;p11"/>
          <p:cNvSpPr/>
          <p:nvPr/>
        </p:nvSpPr>
        <p:spPr>
          <a:xfrm>
            <a:off x="82780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1"/>
          <p:cNvSpPr/>
          <p:nvPr/>
        </p:nvSpPr>
        <p:spPr>
          <a:xfrm>
            <a:off x="89638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1"/>
          <p:cNvSpPr/>
          <p:nvPr/>
        </p:nvSpPr>
        <p:spPr>
          <a:xfrm>
            <a:off x="96496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1"/>
          <p:cNvSpPr/>
          <p:nvPr/>
        </p:nvSpPr>
        <p:spPr>
          <a:xfrm>
            <a:off x="103354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1"/>
          <p:cNvSpPr/>
          <p:nvPr/>
        </p:nvSpPr>
        <p:spPr>
          <a:xfrm>
            <a:off x="11021263" y="45720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E4D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1"/>
          <p:cNvSpPr/>
          <p:nvPr/>
        </p:nvSpPr>
        <p:spPr>
          <a:xfrm>
            <a:off x="8278063" y="21031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6470"/>
                </a:solidFill>
                <a:latin typeface="Calibri"/>
                <a:ea typeface="Calibri"/>
                <a:cs typeface="Calibri"/>
                <a:sym typeface="Calibri"/>
              </a:rPr>
              <a:t>SECTION 4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Student Performance Risk Monitoring  ·  MLOps Final Project · ADSP 32021</a:t>
            </a:r>
            <a:endParaRPr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" name="Google Shape;584;p11"/>
          <p:cNvSpPr/>
          <p:nvPr/>
        </p:nvSpPr>
        <p:spPr>
          <a:xfrm>
            <a:off x="261976" y="16916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5" name="Google Shape;5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008" y="1892823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1"/>
          <p:cNvSpPr/>
          <p:nvPr/>
        </p:nvSpPr>
        <p:spPr>
          <a:xfrm>
            <a:off x="2182216" y="18013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490576" y="253288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Lineage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" name="Google Shape;588;p11"/>
          <p:cNvSpPr/>
          <p:nvPr/>
        </p:nvSpPr>
        <p:spPr>
          <a:xfrm>
            <a:off x="3252064" y="16916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9" name="Google Shape;5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8096" y="1924811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1"/>
          <p:cNvSpPr/>
          <p:nvPr/>
        </p:nvSpPr>
        <p:spPr>
          <a:xfrm>
            <a:off x="5172304" y="18013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3252000" y="2583225"/>
            <a:ext cx="269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Feature Store + Experiment Tracking 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6242152" y="16916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1E2A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3" name="Google Shape;59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8184" y="1892823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1"/>
          <p:cNvSpPr/>
          <p:nvPr/>
        </p:nvSpPr>
        <p:spPr>
          <a:xfrm>
            <a:off x="8162392" y="18013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6470752" y="253288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AutoML Optimization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" name="Google Shape;596;p11"/>
          <p:cNvSpPr/>
          <p:nvPr/>
        </p:nvSpPr>
        <p:spPr>
          <a:xfrm>
            <a:off x="9232240" y="16916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7" name="Google Shape;59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8272" y="1924811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1"/>
          <p:cNvSpPr/>
          <p:nvPr/>
        </p:nvSpPr>
        <p:spPr>
          <a:xfrm>
            <a:off x="11152480" y="18013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9460840" y="253288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Drift Monitoring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472288" y="3291840"/>
            <a:ext cx="5486400" cy="566928"/>
          </a:xfrm>
          <a:prstGeom prst="rect">
            <a:avLst/>
          </a:prstGeom>
          <a:solidFill>
            <a:srgbClr val="F4F1EC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472288" y="3291840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700888" y="329184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Data Prep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2804008" y="329184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Python · pandas · NumPy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472288" y="3913632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472288" y="3913632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700888" y="3913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Storage / Artifacts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2804008" y="391363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Parquet · DVC-style versioning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472288" y="4535424"/>
            <a:ext cx="5486400" cy="566928"/>
          </a:xfrm>
          <a:prstGeom prst="rect">
            <a:avLst/>
          </a:prstGeom>
          <a:solidFill>
            <a:srgbClr val="F4F1EC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472288" y="4535424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700888" y="453542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Modeling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2804008" y="453542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scikit-learn · LightGBM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472288" y="5157216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472288" y="5157216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700888" y="515721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AutoML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2804008" y="515721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FLAML · H2O AutoML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472288" y="5779008"/>
            <a:ext cx="5486400" cy="566928"/>
          </a:xfrm>
          <a:prstGeom prst="rect">
            <a:avLst/>
          </a:prstGeom>
          <a:solidFill>
            <a:srgbClr val="F4F1EC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472288" y="5779008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700888" y="577900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Tracking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2804008" y="5779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MLflow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6233008" y="3291840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6233008" y="3291840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6461608" y="329184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Emissions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8564728" y="329184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CodeCarbon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6233008" y="3913632"/>
            <a:ext cx="5486400" cy="566928"/>
          </a:xfrm>
          <a:prstGeom prst="rect">
            <a:avLst/>
          </a:prstGeom>
          <a:solidFill>
            <a:srgbClr val="F4F1EC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6233008" y="3913632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" name="Google Shape;626;p11"/>
          <p:cNvSpPr/>
          <p:nvPr/>
        </p:nvSpPr>
        <p:spPr>
          <a:xfrm>
            <a:off x="6461608" y="3913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Deployment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" name="Google Shape;627;p11"/>
          <p:cNvSpPr/>
          <p:nvPr/>
        </p:nvSpPr>
        <p:spPr>
          <a:xfrm>
            <a:off x="8564728" y="391363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FastAPI · Streamlit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6233008" y="4535424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9" name="Google Shape;629;p11"/>
          <p:cNvSpPr/>
          <p:nvPr/>
        </p:nvSpPr>
        <p:spPr>
          <a:xfrm>
            <a:off x="6233008" y="4535424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6461608" y="453542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Monitoring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" name="Google Shape;631;p11"/>
          <p:cNvSpPr/>
          <p:nvPr/>
        </p:nvSpPr>
        <p:spPr>
          <a:xfrm>
            <a:off x="8564728" y="453542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Evidently · PSI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2" name="Google Shape;632;p11"/>
          <p:cNvSpPr/>
          <p:nvPr/>
        </p:nvSpPr>
        <p:spPr>
          <a:xfrm>
            <a:off x="6233008" y="5157216"/>
            <a:ext cx="5486400" cy="566928"/>
          </a:xfrm>
          <a:prstGeom prst="rect">
            <a:avLst/>
          </a:prstGeom>
          <a:solidFill>
            <a:srgbClr val="F4F1EC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11"/>
          <p:cNvSpPr/>
          <p:nvPr/>
        </p:nvSpPr>
        <p:spPr>
          <a:xfrm>
            <a:off x="6233008" y="5157216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" name="Google Shape;634;p11"/>
          <p:cNvSpPr/>
          <p:nvPr/>
        </p:nvSpPr>
        <p:spPr>
          <a:xfrm>
            <a:off x="6461608" y="515721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Validation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5" name="Google Shape;635;p11"/>
          <p:cNvSpPr/>
          <p:nvPr/>
        </p:nvSpPr>
        <p:spPr>
          <a:xfrm>
            <a:off x="8564728" y="515721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pytest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6" name="Google Shape;636;p11"/>
          <p:cNvSpPr/>
          <p:nvPr/>
        </p:nvSpPr>
        <p:spPr>
          <a:xfrm>
            <a:off x="6233008" y="5779008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" name="Google Shape;637;p11"/>
          <p:cNvSpPr/>
          <p:nvPr/>
        </p:nvSpPr>
        <p:spPr>
          <a:xfrm>
            <a:off x="6233008" y="5779008"/>
            <a:ext cx="64008" cy="566928"/>
          </a:xfrm>
          <a:prstGeom prst="rect">
            <a:avLst/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11"/>
          <p:cNvSpPr/>
          <p:nvPr/>
        </p:nvSpPr>
        <p:spPr>
          <a:xfrm>
            <a:off x="6461608" y="577900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32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A1322"/>
                </a:solidFill>
                <a:latin typeface="Lato"/>
                <a:ea typeface="Lato"/>
                <a:cs typeface="Lato"/>
                <a:sym typeface="Lato"/>
              </a:rPr>
              <a:t>Source Control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" name="Google Shape;639;p11"/>
          <p:cNvSpPr/>
          <p:nvPr/>
        </p:nvSpPr>
        <p:spPr>
          <a:xfrm>
            <a:off x="8564728" y="5779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1250"/>
              <a:buFont typeface="Calibri"/>
              <a:buNone/>
            </a:pPr>
            <a:r>
              <a:rPr i="0" lang="en-US" sz="1450" u="none" cap="none" strike="noStrike">
                <a:solidFill>
                  <a:srgbClr val="2B313B"/>
                </a:solidFill>
                <a:latin typeface="Lato"/>
                <a:ea typeface="Lato"/>
                <a:cs typeface="Lato"/>
                <a:sym typeface="Lato"/>
              </a:rPr>
              <a:t>GitHub</a:t>
            </a:r>
            <a:endParaRPr i="0" sz="14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11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E0C1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566928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14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2A14D"/>
                </a:solidFill>
                <a:latin typeface="Lato"/>
                <a:ea typeface="Lato"/>
                <a:cs typeface="Lato"/>
                <a:sym typeface="Lato"/>
              </a:rPr>
              <a:t>Q&amp;A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566928" y="5486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 Contributions  ·  Questions</a:t>
            </a:r>
            <a:endParaRPr i="0" sz="3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8278063" y="54864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2"/>
          <p:cNvSpPr/>
          <p:nvPr/>
        </p:nvSpPr>
        <p:spPr>
          <a:xfrm>
            <a:off x="8963863" y="54864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2"/>
          <p:cNvSpPr/>
          <p:nvPr/>
        </p:nvSpPr>
        <p:spPr>
          <a:xfrm>
            <a:off x="9649663" y="54864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2"/>
          <p:cNvSpPr/>
          <p:nvPr/>
        </p:nvSpPr>
        <p:spPr>
          <a:xfrm>
            <a:off x="10335463" y="54864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C2A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2"/>
          <p:cNvSpPr/>
          <p:nvPr/>
        </p:nvSpPr>
        <p:spPr>
          <a:xfrm>
            <a:off x="11021263" y="548640"/>
            <a:ext cx="603504" cy="118872"/>
          </a:xfrm>
          <a:prstGeom prst="roundRect">
            <a:avLst>
              <a:gd fmla="val 46154" name="adj"/>
            </a:avLst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2"/>
          <p:cNvSpPr/>
          <p:nvPr/>
        </p:nvSpPr>
        <p:spPr>
          <a:xfrm>
            <a:off x="8278063" y="301752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9A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7D9AE"/>
                </a:solidFill>
                <a:latin typeface="Calibri"/>
                <a:ea typeface="Calibri"/>
                <a:cs typeface="Calibri"/>
                <a:sym typeface="Calibri"/>
              </a:rPr>
              <a:t>SECTION 5 OF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289408" y="1691640"/>
            <a:ext cx="2697480" cy="2148840"/>
          </a:xfrm>
          <a:prstGeom prst="roundRect">
            <a:avLst>
              <a:gd fmla="val 4255" name="adj"/>
            </a:avLst>
          </a:prstGeom>
          <a:solidFill>
            <a:srgbClr val="FBF7F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1180948" y="1947672"/>
            <a:ext cx="914400" cy="914400"/>
          </a:xfrm>
          <a:prstGeom prst="ellipse">
            <a:avLst/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2"/>
          <p:cNvSpPr/>
          <p:nvPr/>
        </p:nvSpPr>
        <p:spPr>
          <a:xfrm>
            <a:off x="1180948" y="194767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426568" y="29718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5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Andrew Castillo</a:t>
            </a:r>
            <a:endParaRPr i="0" sz="15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472288" y="331927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Data preparation, EDA &amp; train/test split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3261208" y="1691640"/>
            <a:ext cx="2697480" cy="2148840"/>
          </a:xfrm>
          <a:prstGeom prst="roundRect">
            <a:avLst>
              <a:gd fmla="val 4255" name="adj"/>
            </a:avLst>
          </a:prstGeom>
          <a:solidFill>
            <a:srgbClr val="FBF7F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4152748" y="1947672"/>
            <a:ext cx="914400" cy="914400"/>
          </a:xfrm>
          <a:prstGeom prst="ellipse">
            <a:avLst/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2"/>
          <p:cNvSpPr/>
          <p:nvPr/>
        </p:nvSpPr>
        <p:spPr>
          <a:xfrm>
            <a:off x="4152748" y="194767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3398368" y="29718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5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Campbell Taylor</a:t>
            </a:r>
            <a:endParaRPr i="0" sz="15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3444088" y="3289572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Feature engineering, feature versioning &amp; experiment tracking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6233008" y="1691640"/>
            <a:ext cx="2697480" cy="2148840"/>
          </a:xfrm>
          <a:prstGeom prst="roundRect">
            <a:avLst>
              <a:gd fmla="val 4255" name="adj"/>
            </a:avLst>
          </a:prstGeom>
          <a:solidFill>
            <a:srgbClr val="FBF7F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7124548" y="1947672"/>
            <a:ext cx="914400" cy="914400"/>
          </a:xfrm>
          <a:prstGeom prst="ellipse">
            <a:avLst/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2"/>
          <p:cNvSpPr/>
          <p:nvPr/>
        </p:nvSpPr>
        <p:spPr>
          <a:xfrm>
            <a:off x="7124548" y="194767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2"/>
          <p:cNvSpPr/>
          <p:nvPr/>
        </p:nvSpPr>
        <p:spPr>
          <a:xfrm>
            <a:off x="6370168" y="29718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5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Cicily Mathew</a:t>
            </a:r>
            <a:endParaRPr i="0" sz="15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6415888" y="331927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AutoML, model evaluation &amp; model selection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9204808" y="1691640"/>
            <a:ext cx="2697480" cy="2148840"/>
          </a:xfrm>
          <a:prstGeom prst="roundRect">
            <a:avLst>
              <a:gd fmla="val 4255" name="adj"/>
            </a:avLst>
          </a:prstGeom>
          <a:solidFill>
            <a:srgbClr val="FBF7F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10096348" y="1947672"/>
            <a:ext cx="914400" cy="914400"/>
          </a:xfrm>
          <a:prstGeom prst="ellipse">
            <a:avLst/>
          </a:prstGeom>
          <a:solidFill>
            <a:srgbClr val="7A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2"/>
          <p:cNvSpPr/>
          <p:nvPr/>
        </p:nvSpPr>
        <p:spPr>
          <a:xfrm>
            <a:off x="10096348" y="194767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9341968" y="29718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Georgia"/>
              <a:buNone/>
            </a:pPr>
            <a:r>
              <a:rPr b="1" i="0" lang="en-US" sz="1550" u="none" cap="none" strike="noStrike">
                <a:solidFill>
                  <a:srgbClr val="1E2A38"/>
                </a:solidFill>
                <a:latin typeface="Lato"/>
                <a:ea typeface="Lato"/>
                <a:cs typeface="Lato"/>
                <a:sym typeface="Lato"/>
              </a:rPr>
              <a:t>Sagana Ondande</a:t>
            </a:r>
            <a:endParaRPr i="0" sz="15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9341963" y="3200397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470"/>
                </a:solidFill>
                <a:latin typeface="Lato"/>
                <a:ea typeface="Lato"/>
                <a:cs typeface="Lato"/>
                <a:sym typeface="Lato"/>
              </a:rPr>
              <a:t>Deployment, monitoring dashboard, demo &amp; documentation</a:t>
            </a:r>
            <a:endParaRPr i="0" sz="12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675" name="Google Shape;6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408" y="4160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2"/>
          <p:cNvSpPr/>
          <p:nvPr/>
        </p:nvSpPr>
        <p:spPr>
          <a:xfrm>
            <a:off x="746608" y="4174264"/>
            <a:ext cx="5486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9AE"/>
              </a:buClr>
              <a:buSzPts val="1500"/>
              <a:buFont typeface="Calibri"/>
              <a:buNone/>
            </a:pPr>
            <a:r>
              <a:rPr b="1" i="0" lang="en-US" sz="15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github.com/campbelltaylor32/ML_OPS</a:t>
            </a:r>
            <a:endParaRPr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" name="Google Shape;677;p12"/>
          <p:cNvSpPr/>
          <p:nvPr/>
        </p:nvSpPr>
        <p:spPr>
          <a:xfrm>
            <a:off x="289408" y="48920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i="0" sz="4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8" name="Google Shape;678;p12"/>
          <p:cNvSpPr/>
          <p:nvPr/>
        </p:nvSpPr>
        <p:spPr>
          <a:xfrm>
            <a:off x="289408" y="5806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CFD2"/>
              </a:buClr>
              <a:buSzPts val="1400"/>
              <a:buFont typeface="Calibri"/>
              <a:buNone/>
            </a:pPr>
            <a:r>
              <a:rPr i="1" lang="en-US" sz="1500" u="none" cap="none" strike="noStrike">
                <a:solidFill>
                  <a:srgbClr val="E0CFD2"/>
                </a:solidFill>
                <a:latin typeface="Lato"/>
                <a:ea typeface="Lato"/>
                <a:cs typeface="Lato"/>
                <a:sym typeface="Lato"/>
              </a:rPr>
              <a:t>Thank you — full MLOps workflow, from data to deployment to monitoring.</a:t>
            </a:r>
            <a:endParaRPr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8106900" y="4663445"/>
            <a:ext cx="1371600" cy="1371600"/>
          </a:xfrm>
          <a:prstGeom prst="ellipse">
            <a:avLst/>
          </a:prstGeom>
          <a:solidFill>
            <a:srgbClr val="7A1322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0" name="Google Shape;68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1220" y="4937765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12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2026-05-28T16:26:16Z</dcterms:created>
  <dc:creator>Andrew Castillo · Campbell Taylor · Cicily Matthew · Sagana Ondande</dc:creator>
</cp:coreProperties>
</file>